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03720" y="868680"/>
            <a:ext cx="4663440" cy="5074920"/>
          </a:xfrm>
          <a:prstGeom prst="roundRect">
            <a:avLst>
              <a:gd name="adj" fmla="val 4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69480" y="117043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6D1DC"/>
                </a:solidFill>
                <a:latin typeface="Consolas"/>
              </a:rPr>
              <a:t>FRAUD RING INTELLIGENCE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863840" y="1874519"/>
            <a:ext cx="1344168" cy="384049"/>
          </a:xfrm>
          <a:prstGeom prst="line">
            <a:avLst/>
          </a:prstGeom>
          <a:ln w="15875">
            <a:solidFill>
              <a:srgbClr val="1E2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9208008" y="1911095"/>
            <a:ext cx="1298448" cy="347473"/>
          </a:xfrm>
          <a:prstGeom prst="line">
            <a:avLst/>
          </a:prstGeom>
          <a:ln w="15875">
            <a:solidFill>
              <a:srgbClr val="1E2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208008" y="2258568"/>
            <a:ext cx="484632" cy="1170432"/>
          </a:xfrm>
          <a:prstGeom prst="line">
            <a:avLst/>
          </a:prstGeom>
          <a:ln w="22225">
            <a:solidFill>
              <a:srgbClr val="5A2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211312" y="3090672"/>
            <a:ext cx="1481328" cy="338328"/>
          </a:xfrm>
          <a:prstGeom prst="line">
            <a:avLst/>
          </a:prstGeom>
          <a:ln w="15875">
            <a:solidFill>
              <a:srgbClr val="1E2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92640" y="2971800"/>
            <a:ext cx="1234440" cy="457200"/>
          </a:xfrm>
          <a:prstGeom prst="line">
            <a:avLst/>
          </a:prstGeom>
          <a:ln w="15875">
            <a:solidFill>
              <a:srgbClr val="1E2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006840" y="3429000"/>
            <a:ext cx="685800" cy="1188720"/>
          </a:xfrm>
          <a:prstGeom prst="line">
            <a:avLst/>
          </a:prstGeom>
          <a:ln w="22225">
            <a:solidFill>
              <a:srgbClr val="5A2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46136" y="4197096"/>
            <a:ext cx="1060704" cy="420624"/>
          </a:xfrm>
          <a:prstGeom prst="line">
            <a:avLst/>
          </a:prstGeom>
          <a:ln w="15875">
            <a:solidFill>
              <a:srgbClr val="1E2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006840" y="4325112"/>
            <a:ext cx="1399032" cy="292608"/>
          </a:xfrm>
          <a:prstGeom prst="line">
            <a:avLst/>
          </a:prstGeom>
          <a:ln w="15875">
            <a:solidFill>
              <a:srgbClr val="1E2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06840" y="4617720"/>
            <a:ext cx="777240" cy="457200"/>
          </a:xfrm>
          <a:prstGeom prst="line">
            <a:avLst/>
          </a:prstGeom>
          <a:ln w="22225">
            <a:solidFill>
              <a:srgbClr val="5A2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92640" y="3429000"/>
            <a:ext cx="713232" cy="896112"/>
          </a:xfrm>
          <a:prstGeom prst="line">
            <a:avLst/>
          </a:prstGeom>
          <a:ln w="22225">
            <a:solidFill>
              <a:srgbClr val="5A2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772400" y="1783080"/>
            <a:ext cx="182880" cy="182880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052560" y="2103120"/>
            <a:ext cx="310896" cy="310896"/>
          </a:xfrm>
          <a:prstGeom prst="ellipse">
            <a:avLst/>
          </a:prstGeom>
          <a:solidFill>
            <a:srgbClr val="F29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424160" y="1828800"/>
            <a:ext cx="164592" cy="164592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38160" y="3017520"/>
            <a:ext cx="146304" cy="146304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0" y="3246120"/>
            <a:ext cx="365760" cy="365760"/>
          </a:xfrm>
          <a:prstGeom prst="ellipse">
            <a:avLst/>
          </a:prstGeom>
          <a:solidFill>
            <a:srgbClr val="FF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35640" y="2880360"/>
            <a:ext cx="182880" cy="182880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63840" y="4114800"/>
            <a:ext cx="164592" cy="164592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69680" y="4480560"/>
            <a:ext cx="274320" cy="274320"/>
          </a:xfrm>
          <a:prstGeom prst="ellipse">
            <a:avLst/>
          </a:prstGeom>
          <a:solidFill>
            <a:srgbClr val="F29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332720" y="4251960"/>
            <a:ext cx="146304" cy="146304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40" y="4983480"/>
            <a:ext cx="182880" cy="182880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69480" y="5394960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890"/>
                </a:solidFill>
                <a:latin typeface="Consolas"/>
              </a:rPr>
              <a:t>121 rings  ·  314 customers  ·  254 merchants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1097280"/>
            <a:ext cx="4343400" cy="292608"/>
          </a:xfrm>
          <a:prstGeom prst="roundRect">
            <a:avLst>
              <a:gd name="adj" fmla="val 40000"/>
            </a:avLst>
          </a:prstGeom>
          <a:solidFill>
            <a:srgbClr val="1A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1106424"/>
            <a:ext cx="4343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36D1DC"/>
                </a:solidFill>
                <a:latin typeface="Consolas"/>
              </a:rPr>
              <a:t>TRANSORG AGENTIQ DATATHON  ·  TRACK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64592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E8EEF8"/>
                </a:solidFill>
                <a:latin typeface="Segoe UI"/>
              </a:rPr>
              <a:t>UPI RISK DESK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2670048"/>
            <a:ext cx="2011680" cy="54864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2926080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6D1DC"/>
                </a:solidFill>
                <a:latin typeface="Segoe UI"/>
              </a:rPr>
              <a:t>Fraud ring detection and merchant risk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74720"/>
            <a:ext cx="5989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A3AFC2"/>
                </a:solidFill>
                <a:latin typeface="Segoe UI"/>
              </a:rPr>
              <a:t>20,000 payments from four broken source systems, cleaned into one model and turned into a live risk desk: nine analyst views, an explainable score behind every entity, a leak-free replay engine and five AI agents that can work the desk.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4892040"/>
            <a:ext cx="5669280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5102352"/>
            <a:ext cx="5486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E8EEF8"/>
                </a:solidFill>
                <a:latin typeface="Consolas"/>
              </a:rPr>
              <a:t>T</a:t>
            </a:r>
            <a:r>
              <a:rPr lang="en-IN" sz="1000" b="1" dirty="0">
                <a:solidFill>
                  <a:srgbClr val="E8EEF8"/>
                </a:solidFill>
                <a:latin typeface="Consolas"/>
              </a:rPr>
              <a:t>EAM LOOSERS</a:t>
            </a:r>
            <a:r>
              <a:rPr sz="1000" b="1" dirty="0">
                <a:solidFill>
                  <a:srgbClr val="E8EEF8"/>
                </a:solidFill>
                <a:latin typeface="Consolas"/>
              </a:rPr>
              <a:t>  ·  LEADER: ADITYA SHUKLA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41324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B7890"/>
                </a:solidFill>
                <a:latin typeface="Segoe UI"/>
              </a:rPr>
              <a:t>Data window 1 Jan – 31 Mar 2026  ·  90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94360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C83FF"/>
                </a:solidFill>
                <a:latin typeface="Consolas"/>
              </a:rPr>
              <a:t>adityashukla2615.github.io/upi-risk-desk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A transaction label is not a risk answer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3AFC2"/>
                </a:solidFill>
                <a:latin typeface="Segoe UI"/>
              </a:rPr>
              <a:t>Four source systems disagreed with each other before anyone could ask a single risk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3483864" cy="45720"/>
          </a:xfrm>
          <a:prstGeom prst="rect">
            <a:avLst/>
          </a:prstGeom>
          <a:gradFill rotWithShape="1">
            <a:gsLst>
              <a:gs pos="0">
                <a:srgbClr val="FF7B80"/>
              </a:gs>
              <a:gs pos="100000">
                <a:srgbClr val="FF7B8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7627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7B80"/>
                </a:solidFill>
                <a:latin typeface="Consolas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3230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8EEF8"/>
                </a:solidFill>
                <a:latin typeface="Segoe UI"/>
              </a:rPr>
              <a:t>Why is this merchant risky?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944368"/>
            <a:ext cx="30358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Needs its own dispute history, its master record and its settlement setup — not one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92024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8264" y="1920240"/>
            <a:ext cx="3483864" cy="45720"/>
          </a:xfrm>
          <a:prstGeom prst="rect">
            <a:avLst/>
          </a:prstGeom>
          <a:gradFill rotWithShape="1">
            <a:gsLst>
              <a:gs pos="0">
                <a:srgbClr val="F29A76"/>
              </a:gs>
              <a:gs pos="100000">
                <a:srgbClr val="F29A7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8" y="217627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29A76"/>
                </a:solidFill>
                <a:latin typeface="Consolas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43230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8EEF8"/>
                </a:solidFill>
                <a:latin typeface="Segoe UI"/>
              </a:rPr>
              <a:t>Which users and merchants move together?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944368"/>
            <a:ext cx="30358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Needs the payment graph. Rings never show up in a row-by-row classifier.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1" y="192024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59" y="1920240"/>
            <a:ext cx="3483864" cy="45720"/>
          </a:xfrm>
          <a:prstGeom prst="rect">
            <a:avLst/>
          </a:prstGeom>
          <a:gradFill rotWithShape="1">
            <a:gsLst>
              <a:gs pos="0">
                <a:srgbClr val="36D1DC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75903" y="217627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6D1DC"/>
                </a:solidFill>
                <a:latin typeface="Consolas"/>
              </a:rPr>
              <a:t>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3" y="243230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8EEF8"/>
                </a:solidFill>
                <a:latin typeface="Segoe UI"/>
              </a:rPr>
              <a:t>Where are the control gaps?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3" y="2944368"/>
            <a:ext cx="30358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Needs identity and KYC state joined to the disputes they produce.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587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EF8"/>
                </a:solidFill>
                <a:latin typeface="Segoe UI"/>
              </a:rPr>
              <a:t>What the raw bundle looked like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24528"/>
            <a:ext cx="10908792" cy="438912"/>
          </a:xfrm>
          <a:prstGeom prst="roundRect">
            <a:avLst>
              <a:gd name="adj" fmla="val 25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68680" y="4379976"/>
            <a:ext cx="128016" cy="128016"/>
          </a:xfrm>
          <a:prstGeom prst="ellipse">
            <a:avLst/>
          </a:prstGeom>
          <a:solidFill>
            <a:srgbClr val="FF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435254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8EEF8"/>
                </a:solidFill>
                <a:latin typeface="Consolas"/>
              </a:rPr>
              <a:t>track1_upi_transactions.csv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35254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F7B80"/>
                </a:solidFill>
                <a:latin typeface="Consolas"/>
              </a:rPr>
              <a:t>20,400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43434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Segoe UI"/>
              </a:rPr>
              <a:t>400 exact duplicates  ·  ₹ / Rs. / INR / "27.3k" amounts  ·  6 date formats  ·  6 id spellings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54880"/>
            <a:ext cx="10908792" cy="438912"/>
          </a:xfrm>
          <a:prstGeom prst="roundRect">
            <a:avLst>
              <a:gd name="adj" fmla="val 25000"/>
            </a:avLst>
          </a:prstGeom>
          <a:solidFill>
            <a:srgbClr val="070B1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8680" y="4910328"/>
            <a:ext cx="128016" cy="128016"/>
          </a:xfrm>
          <a:prstGeom prst="ellipse">
            <a:avLst/>
          </a:prstGeom>
          <a:solidFill>
            <a:srgbClr val="F29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488289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8EEF8"/>
                </a:solidFill>
                <a:latin typeface="Consolas"/>
              </a:rPr>
              <a:t>track1_chargebacks.json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882896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29A76"/>
                </a:solidFill>
                <a:latin typeface="Consolas"/>
              </a:rPr>
              <a:t>2,884 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4873752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Segoe UI"/>
              </a:rPr>
              <a:t>34 reason spellings  ·  severity as P1–P4 and H/M/L  ·  ids that disagree with the payment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285232"/>
            <a:ext cx="10908792" cy="438912"/>
          </a:xfrm>
          <a:prstGeom prst="roundRect">
            <a:avLst>
              <a:gd name="adj" fmla="val 25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68680" y="5440680"/>
            <a:ext cx="128016" cy="128016"/>
          </a:xfrm>
          <a:prstGeom prst="ellipse">
            <a:avLst/>
          </a:prstGeom>
          <a:solidFill>
            <a:srgbClr val="FB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43000" y="541324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8EEF8"/>
                </a:solidFill>
                <a:latin typeface="Consolas"/>
              </a:rPr>
              <a:t>track1_kyc_records.csv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54132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BC54A"/>
                </a:solidFill>
                <a:latin typeface="Consolas"/>
              </a:rPr>
              <a:t>29,198 rows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5404104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Segoe UI"/>
              </a:rPr>
              <a:t>16 KYC status variants  ·  41 city spellings  ·  6,288 customer ids reused by different people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15583"/>
            <a:ext cx="10908792" cy="438912"/>
          </a:xfrm>
          <a:prstGeom prst="roundRect">
            <a:avLst>
              <a:gd name="adj" fmla="val 25000"/>
            </a:avLst>
          </a:prstGeom>
          <a:solidFill>
            <a:srgbClr val="070B1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68680" y="5971031"/>
            <a:ext cx="128016" cy="128016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43000" y="5943599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8EEF8"/>
                </a:solidFill>
                <a:latin typeface="Consolas"/>
              </a:rPr>
              <a:t>track1_merchants_master.csv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5943599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987E5"/>
                </a:solidFill>
                <a:latin typeface="Consolas"/>
              </a:rPr>
              <a:t>4,355 rows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0680" y="5934455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Segoe UI"/>
              </a:rPr>
              <a:t>82 category spellings  ·  MCC as MCC-7011 / 07011 / 5311.0  ·  1,412 colliding ids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Raw row counts before de-duplication  ·  every defect logged in outputs/data_quality_report.csv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Four messy files to a working risk desk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3AFC2"/>
                </a:solidFill>
                <a:latin typeface="Segoe UI"/>
              </a:rPr>
              <a:t>One deterministic pipeline. Every stage writes an artefact the next stage — and any judge — can open.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74519"/>
            <a:ext cx="2569464" cy="45720"/>
          </a:xfrm>
          <a:prstGeom prst="rect">
            <a:avLst/>
          </a:prstGeom>
          <a:gradFill rotWithShape="1">
            <a:gsLst>
              <a:gs pos="0">
                <a:srgbClr val="36D1DC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6D1DC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3230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E8EEF8"/>
                </a:solidFill>
                <a:latin typeface="Segoe UI"/>
              </a:rPr>
              <a:t>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890"/>
                </a:solidFill>
                <a:latin typeface="Consolas"/>
              </a:rPr>
              <a:t>src/clean.py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255264"/>
            <a:ext cx="91440" cy="91440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182112"/>
            <a:ext cx="20299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repair and flag, never delete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840479"/>
            <a:ext cx="91440" cy="91440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20299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70 quality checks logged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425696"/>
            <a:ext cx="91440" cy="91440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352544"/>
            <a:ext cx="20299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400 duplicate payments removed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291839" y="3310128"/>
            <a:ext cx="137160" cy="201168"/>
          </a:xfrm>
          <a:prstGeom prst="rightArrow">
            <a:avLst/>
          </a:prstGeom>
          <a:solidFill>
            <a:srgbClr val="2C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65576" y="1874519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83864" y="1874519"/>
            <a:ext cx="2569464" cy="45720"/>
          </a:xfrm>
          <a:prstGeom prst="rect">
            <a:avLst/>
          </a:prstGeom>
          <a:gradFill rotWithShape="1">
            <a:gsLst>
              <a:gs pos="0">
                <a:srgbClr val="3987E5"/>
              </a:gs>
              <a:gs pos="100000">
                <a:srgbClr val="3987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94176" y="21031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987E5"/>
                </a:solidFill>
                <a:latin typeface="Consola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243230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E8EEF8"/>
                </a:solidFill>
                <a:latin typeface="Segoe UI"/>
              </a:rPr>
              <a:t>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2816352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890"/>
                </a:solidFill>
                <a:latin typeface="Consolas"/>
              </a:rPr>
              <a:t>star schema + SQLite</a:t>
            </a:r>
          </a:p>
        </p:txBody>
      </p:sp>
      <p:sp>
        <p:nvSpPr>
          <p:cNvPr id="25" name="Oval 24"/>
          <p:cNvSpPr/>
          <p:nvPr/>
        </p:nvSpPr>
        <p:spPr>
          <a:xfrm>
            <a:off x="3694176" y="3255264"/>
            <a:ext cx="91440" cy="91440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77056" y="3182112"/>
            <a:ext cx="20299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fact_transactions · fact_chargebacks</a:t>
            </a:r>
          </a:p>
        </p:txBody>
      </p:sp>
      <p:sp>
        <p:nvSpPr>
          <p:cNvPr id="27" name="Oval 26"/>
          <p:cNvSpPr/>
          <p:nvPr/>
        </p:nvSpPr>
        <p:spPr>
          <a:xfrm>
            <a:off x="3694176" y="3840479"/>
            <a:ext cx="91440" cy="91440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77056" y="3767328"/>
            <a:ext cx="20299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dim_users · dim_merchants</a:t>
            </a:r>
          </a:p>
        </p:txBody>
      </p:sp>
      <p:sp>
        <p:nvSpPr>
          <p:cNvPr id="29" name="Oval 28"/>
          <p:cNvSpPr/>
          <p:nvPr/>
        </p:nvSpPr>
        <p:spPr>
          <a:xfrm>
            <a:off x="3694176" y="4425696"/>
            <a:ext cx="91440" cy="91440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77056" y="4352544"/>
            <a:ext cx="20299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indexed risk views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117336" y="3310128"/>
            <a:ext cx="137160" cy="201168"/>
          </a:xfrm>
          <a:prstGeom prst="rightArrow">
            <a:avLst/>
          </a:prstGeom>
          <a:solidFill>
            <a:srgbClr val="2C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91072" y="1874519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59" y="1874519"/>
            <a:ext cx="2569464" cy="45720"/>
          </a:xfrm>
          <a:prstGeom prst="rect">
            <a:avLst/>
          </a:prstGeom>
          <a:gradFill rotWithShape="1">
            <a:gsLst>
              <a:gs pos="0">
                <a:srgbClr val="F29A76"/>
              </a:gs>
              <a:gs pos="100000">
                <a:srgbClr val="F29A7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9672" y="21031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29A76"/>
                </a:solidFill>
                <a:latin typeface="Consola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243230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E8EEF8"/>
                </a:solidFill>
                <a:latin typeface="Segoe UI"/>
              </a:rPr>
              <a:t>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2816352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890"/>
                </a:solidFill>
                <a:latin typeface="Consolas"/>
              </a:rPr>
              <a:t>src/analytics.py</a:t>
            </a:r>
          </a:p>
        </p:txBody>
      </p:sp>
      <p:sp>
        <p:nvSpPr>
          <p:cNvPr id="37" name="Oval 36"/>
          <p:cNvSpPr/>
          <p:nvPr/>
        </p:nvSpPr>
        <p:spPr>
          <a:xfrm>
            <a:off x="6519672" y="3255264"/>
            <a:ext cx="91440" cy="91440"/>
          </a:xfrm>
          <a:prstGeom prst="ellipse">
            <a:avLst/>
          </a:prstGeom>
          <a:solidFill>
            <a:srgbClr val="F29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02552" y="3182112"/>
            <a:ext cx="20299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additive merchant / user scores</a:t>
            </a:r>
          </a:p>
        </p:txBody>
      </p:sp>
      <p:sp>
        <p:nvSpPr>
          <p:cNvPr id="39" name="Oval 38"/>
          <p:cNvSpPr/>
          <p:nvPr/>
        </p:nvSpPr>
        <p:spPr>
          <a:xfrm>
            <a:off x="6519672" y="3840479"/>
            <a:ext cx="91440" cy="91440"/>
          </a:xfrm>
          <a:prstGeom prst="ellipse">
            <a:avLst/>
          </a:prstGeom>
          <a:solidFill>
            <a:srgbClr val="F29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02552" y="3767328"/>
            <a:ext cx="20299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121 dispute rings from the graph</a:t>
            </a:r>
          </a:p>
        </p:txBody>
      </p:sp>
      <p:sp>
        <p:nvSpPr>
          <p:cNvPr id="41" name="Oval 40"/>
          <p:cNvSpPr/>
          <p:nvPr/>
        </p:nvSpPr>
        <p:spPr>
          <a:xfrm>
            <a:off x="6519672" y="4425696"/>
            <a:ext cx="91440" cy="91440"/>
          </a:xfrm>
          <a:prstGeom prst="ellipse">
            <a:avLst/>
          </a:prstGeom>
          <a:solidFill>
            <a:srgbClr val="F29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02552" y="4352544"/>
            <a:ext cx="20299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out-of-time backtest every run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8942832" y="3310128"/>
            <a:ext cx="137160" cy="201168"/>
          </a:xfrm>
          <a:prstGeom prst="rightArrow">
            <a:avLst/>
          </a:prstGeom>
          <a:solidFill>
            <a:srgbClr val="2C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116567" y="1874519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134855" y="1874519"/>
            <a:ext cx="2569464" cy="4572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7C83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45167" y="21031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C83FF"/>
                </a:solidFill>
                <a:latin typeface="Consolas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45167" y="243230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E8EEF8"/>
                </a:solidFill>
                <a:latin typeface="Segoe UI"/>
              </a:rPr>
              <a:t>SERVE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5167" y="2816352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890"/>
                </a:solidFill>
                <a:latin typeface="Consolas"/>
              </a:rPr>
              <a:t>command center + agents</a:t>
            </a:r>
          </a:p>
        </p:txBody>
      </p:sp>
      <p:sp>
        <p:nvSpPr>
          <p:cNvPr id="49" name="Oval 48"/>
          <p:cNvSpPr/>
          <p:nvPr/>
        </p:nvSpPr>
        <p:spPr>
          <a:xfrm>
            <a:off x="9345167" y="3255264"/>
            <a:ext cx="91440" cy="91440"/>
          </a:xfrm>
          <a:prstGeom prst="ellipse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28047" y="3182112"/>
            <a:ext cx="20299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9 analyst views, no server</a:t>
            </a:r>
          </a:p>
        </p:txBody>
      </p:sp>
      <p:sp>
        <p:nvSpPr>
          <p:cNvPr id="51" name="Oval 50"/>
          <p:cNvSpPr/>
          <p:nvPr/>
        </p:nvSpPr>
        <p:spPr>
          <a:xfrm>
            <a:off x="9345167" y="3840479"/>
            <a:ext cx="91440" cy="91440"/>
          </a:xfrm>
          <a:prstGeom prst="ellipse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28047" y="3767328"/>
            <a:ext cx="20299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leak-free replay engine</a:t>
            </a:r>
          </a:p>
        </p:txBody>
      </p:sp>
      <p:sp>
        <p:nvSpPr>
          <p:cNvPr id="53" name="Oval 52"/>
          <p:cNvSpPr/>
          <p:nvPr/>
        </p:nvSpPr>
        <p:spPr>
          <a:xfrm>
            <a:off x="9345167" y="4425696"/>
            <a:ext cx="91440" cy="91440"/>
          </a:xfrm>
          <a:prstGeom prst="ellipse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528047" y="4352544"/>
            <a:ext cx="20299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5 agents over 16 shared tools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534924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1A223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4400" y="548640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6D1DC"/>
                </a:solidFill>
                <a:latin typeface="Segoe UI"/>
              </a:rPr>
              <a:t>72K / 106K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815584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890"/>
                </a:solidFill>
                <a:latin typeface="Segoe UI"/>
              </a:rPr>
              <a:t>graph nodes / edges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97480" y="548640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6D1DC"/>
                </a:solidFill>
                <a:latin typeface="Segoe UI"/>
              </a:rPr>
              <a:t>19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97480" y="5815584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890"/>
                </a:solidFill>
                <a:latin typeface="Segoe UI"/>
              </a:rPr>
              <a:t>unit tests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0560" y="548640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6D1DC"/>
                </a:solidFill>
                <a:latin typeface="Segoe UI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0560" y="5815584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890"/>
                </a:solidFill>
                <a:latin typeface="Segoe UI"/>
              </a:rPr>
              <a:t>dashboard views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548640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6D1DC"/>
                </a:solidFill>
                <a:latin typeface="Segoe UI"/>
              </a:rPr>
              <a:t>16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5815584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890"/>
                </a:solidFill>
                <a:latin typeface="Segoe UI"/>
              </a:rPr>
              <a:t>agent tools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20" y="548640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6D1DC"/>
                </a:solidFill>
                <a:latin typeface="Segoe UI"/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5815584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890"/>
                </a:solidFill>
                <a:latin typeface="Segoe UI"/>
              </a:rPr>
              <a:t>servers to run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9800" y="548640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6D1DC"/>
                </a:solidFill>
                <a:latin typeface="Segoe U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29800" y="5815584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890"/>
                </a:solidFill>
                <a:latin typeface="Segoe UI"/>
              </a:rPr>
              <a:t>self-contained page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py src/clean.py  →  py src/analytics.py  →  py src/build_dashboard.py  →  py src/agent.py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PRODUCT  ·  LIVE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The desk a risk analyst actually opens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19" y="1531620"/>
            <a:ext cx="7818120" cy="4672148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1_overview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0080" y="1554480"/>
            <a:ext cx="7772400" cy="462642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686800" y="1801368"/>
            <a:ext cx="256032" cy="25603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181965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0848" y="1783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Sentinel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2029967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The page opens with a written verdict and the money at stake, not a wall of charts.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0" y="2944368"/>
            <a:ext cx="256032" cy="256032"/>
          </a:xfrm>
          <a:prstGeom prst="ellipse">
            <a:avLst/>
          </a:prstGeom>
          <a:solidFill>
            <a:srgbClr val="FF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96265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926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Exposure, not just 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3172968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₹1.01 Cr in dispute, split by fraud-type and by whether it is still open.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0" y="4087368"/>
            <a:ext cx="256032" cy="256032"/>
          </a:xfrm>
          <a:prstGeom prst="ellipse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0" y="4105655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4069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KPIs that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4315968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Sparklines and prior-period deltas; drag the trend to zoom the whole desk to those dates.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0" y="5230368"/>
            <a:ext cx="256032" cy="256032"/>
          </a:xfrm>
          <a:prstGeom prst="ellipse">
            <a:avLst/>
          </a:prstGeom>
          <a:solidFill>
            <a:srgbClr val="FB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5248655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5212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Alerts that 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5458968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Ten detectors re-run on every build; each alert can filter the desk or open a case.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outputs/upi_risk_desk.html  ·  one file, no server, 20,000 payments embedded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BUSINESS METRICS  ·  Q1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One quarter of UPI traffic, measured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578608" cy="13258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20240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6B7890"/>
                </a:solidFill>
                <a:latin typeface="Consolas"/>
              </a:rPr>
              <a:t>PAYMENTS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4884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36D1DC"/>
                </a:solidFill>
                <a:latin typeface="Segoe UI"/>
              </a:rPr>
              <a:t>20,000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42615"/>
            <a:ext cx="221284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after 400 duplicates removed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1" y="1737360"/>
            <a:ext cx="2578608" cy="13258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0168" y="1920240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6B7890"/>
                </a:solidFill>
                <a:latin typeface="Consolas"/>
              </a:rPr>
              <a:t>PAYMENT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14884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E8EEF8"/>
                </a:solidFill>
                <a:latin typeface="Segoe UI"/>
              </a:rPr>
              <a:t>₹24.98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642615"/>
            <a:ext cx="221284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₹21.38 Cr settled successfully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737360"/>
            <a:ext cx="2578608" cy="13258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6B7890"/>
                </a:solidFill>
                <a:latin typeface="Consolas"/>
              </a:rPr>
              <a:t>DISPUTE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FF7B80"/>
                </a:solidFill>
                <a:latin typeface="Segoe UI"/>
              </a:rPr>
              <a:t>12.3%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42615"/>
            <a:ext cx="221284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2,451 disputed payments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1737360"/>
            <a:ext cx="2578608" cy="13258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71432" y="1920240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6B7890"/>
                </a:solidFill>
                <a:latin typeface="Consolas"/>
              </a:rPr>
              <a:t>MONEY IN DISPUTE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214884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F29A76"/>
                </a:solidFill>
                <a:latin typeface="Segoe UI"/>
              </a:rPr>
              <a:t>₹1.01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2642615"/>
            <a:ext cx="221284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3.8% of payment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200400"/>
            <a:ext cx="2578608" cy="13258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" y="3383280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6B7890"/>
                </a:solidFill>
                <a:latin typeface="Consolas"/>
              </a:rPr>
              <a:t>FRAUD-TYPE SHARE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361188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FF7B80"/>
                </a:solidFill>
                <a:latin typeface="Segoe UI"/>
              </a:rPr>
              <a:t>37%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105656"/>
            <a:ext cx="221284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1,042 of 2,800 complaints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10711" y="3200400"/>
            <a:ext cx="2578608" cy="13258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30168" y="3383280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6B7890"/>
                </a:solidFill>
                <a:latin typeface="Consolas"/>
              </a:rPr>
              <a:t>STILL UNRESOLVED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0168" y="361188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FBC54A"/>
                </a:solidFill>
                <a:latin typeface="Segoe UI"/>
              </a:rPr>
              <a:t>53%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0168" y="4105656"/>
            <a:ext cx="221284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1,492 open or with the bank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3200400"/>
            <a:ext cx="2578608" cy="13258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3383280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6B7890"/>
                </a:solidFill>
                <a:latin typeface="Consolas"/>
              </a:rPr>
              <a:t>MEAN REPORTING DELAY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1188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3987E5"/>
                </a:solidFill>
                <a:latin typeface="Segoe UI"/>
              </a:rPr>
              <a:t>8.0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105656"/>
            <a:ext cx="221284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median 3.2 d · 666 after 7 days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51976" y="3200400"/>
            <a:ext cx="2578608" cy="13258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71432" y="3383280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6B7890"/>
                </a:solidFill>
                <a:latin typeface="Consolas"/>
              </a:rPr>
              <a:t>KYC COMPLETION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361188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3ECF6E"/>
                </a:solidFill>
                <a:latin typeface="Segoe UI"/>
              </a:rPr>
              <a:t>77.4%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4105656"/>
            <a:ext cx="221284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8.2% rejected · 28,920 customers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828032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1A223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02920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E8EEF8"/>
                </a:solidFill>
                <a:latin typeface="Segoe UI"/>
              </a:rPr>
              <a:t>Dispute rate by merchant category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285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890"/>
                </a:solidFill>
                <a:latin typeface="Consolas"/>
              </a:rPr>
              <a:t>books with ≥ 1,000 payments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1441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Grocery holds the most money in dispute: ₹29.38 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502920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A3AFC2"/>
                </a:solidFill>
                <a:latin typeface="Segoe UI"/>
              </a:rPr>
              <a:t>Transportation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0" y="5285232"/>
            <a:ext cx="1261872" cy="128016"/>
          </a:xfrm>
          <a:prstGeom prst="roundRect">
            <a:avLst>
              <a:gd name="adj" fmla="val 50000"/>
            </a:avLst>
          </a:prstGeom>
          <a:solidFill>
            <a:srgbClr val="1E2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206240" y="5285232"/>
            <a:ext cx="1135684" cy="128016"/>
          </a:xfrm>
          <a:prstGeom prst="roundRect">
            <a:avLst>
              <a:gd name="adj" fmla="val 50000"/>
            </a:avLst>
          </a:prstGeom>
          <a:solidFill>
            <a:srgbClr val="FF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06240" y="550468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7B80"/>
                </a:solidFill>
                <a:latin typeface="Consolas"/>
              </a:rPr>
              <a:t>13.4%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87568" y="502920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A3AFC2"/>
                </a:solidFill>
                <a:latin typeface="Segoe UI"/>
              </a:rPr>
              <a:t>Restaurants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87568" y="5285232"/>
            <a:ext cx="1261872" cy="128016"/>
          </a:xfrm>
          <a:prstGeom prst="roundRect">
            <a:avLst>
              <a:gd name="adj" fmla="val 50000"/>
            </a:avLst>
          </a:prstGeom>
          <a:solidFill>
            <a:srgbClr val="1E2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687568" y="5285232"/>
            <a:ext cx="1084578" cy="128016"/>
          </a:xfrm>
          <a:prstGeom prst="roundRect">
            <a:avLst>
              <a:gd name="adj" fmla="val 50000"/>
            </a:avLst>
          </a:prstGeom>
          <a:solidFill>
            <a:srgbClr val="F29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87568" y="550468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29A76"/>
                </a:solidFill>
                <a:latin typeface="Consolas"/>
              </a:rPr>
              <a:t>12.8%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68896" y="502920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A3AFC2"/>
                </a:solidFill>
                <a:latin typeface="Segoe UI"/>
              </a:rPr>
              <a:t>Grocery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68896" y="5285232"/>
            <a:ext cx="1261872" cy="128016"/>
          </a:xfrm>
          <a:prstGeom prst="roundRect">
            <a:avLst>
              <a:gd name="adj" fmla="val 50000"/>
            </a:avLst>
          </a:prstGeom>
          <a:solidFill>
            <a:srgbClr val="1E2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168896" y="5285232"/>
            <a:ext cx="1050508" cy="128016"/>
          </a:xfrm>
          <a:prstGeom prst="roundRect">
            <a:avLst>
              <a:gd name="adj" fmla="val 50000"/>
            </a:avLst>
          </a:prstGeom>
          <a:solidFill>
            <a:srgbClr val="F29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168896" y="550468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29A76"/>
                </a:solidFill>
                <a:latin typeface="Consolas"/>
              </a:rPr>
              <a:t>12.4%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0224" y="502920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A3AFC2"/>
                </a:solidFill>
                <a:latin typeface="Segoe UI"/>
              </a:rPr>
              <a:t>Hotels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50224" y="5285232"/>
            <a:ext cx="1261872" cy="128016"/>
          </a:xfrm>
          <a:prstGeom prst="roundRect">
            <a:avLst>
              <a:gd name="adj" fmla="val 50000"/>
            </a:avLst>
          </a:prstGeom>
          <a:solidFill>
            <a:srgbClr val="1E2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650224" y="5285232"/>
            <a:ext cx="982367" cy="128016"/>
          </a:xfrm>
          <a:prstGeom prst="roundRect">
            <a:avLst>
              <a:gd name="adj" fmla="val 50000"/>
            </a:avLst>
          </a:prstGeom>
          <a:solidFill>
            <a:srgbClr val="3EC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650224" y="550468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ECF6E"/>
                </a:solidFill>
                <a:latin typeface="Consolas"/>
              </a:rPr>
              <a:t>11.6%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31552" y="502920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A3AFC2"/>
                </a:solidFill>
                <a:latin typeface="Segoe UI"/>
              </a:rPr>
              <a:t>Pharmacy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131552" y="5285232"/>
            <a:ext cx="1261872" cy="128016"/>
          </a:xfrm>
          <a:prstGeom prst="roundRect">
            <a:avLst>
              <a:gd name="adj" fmla="val 50000"/>
            </a:avLst>
          </a:prstGeom>
          <a:solidFill>
            <a:srgbClr val="1E2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10131552" y="5285232"/>
            <a:ext cx="974417" cy="128016"/>
          </a:xfrm>
          <a:prstGeom prst="roundRect">
            <a:avLst>
              <a:gd name="adj" fmla="val 50000"/>
            </a:avLst>
          </a:prstGeom>
          <a:solidFill>
            <a:srgbClr val="3EC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131552" y="550468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ECF6E"/>
                </a:solidFill>
                <a:latin typeface="Consolas"/>
              </a:rPr>
              <a:t>11.5%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06240" y="5815584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890"/>
                </a:solidFill>
                <a:latin typeface="Consolas"/>
              </a:rPr>
              <a:t>overall 12.3%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Recomputed on every run into outputs/metrics.json  ·  dispute rate = payments with ≥1 linked chargeback ÷ payments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CLEANING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Repair and flag — never quietly delete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3AFC2"/>
                </a:solidFill>
                <a:latin typeface="Segoe UI"/>
              </a:rPr>
              <a:t>Rows are dropped only when they are duplicates. Everything else is fixed where evidence supports it, otherwise nulled and flagged.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The rules that mattered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59152"/>
            <a:ext cx="7086600" cy="548640"/>
          </a:xfrm>
          <a:prstGeom prst="roundRect">
            <a:avLst>
              <a:gd name="adj" fmla="val 20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50592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6D1DC"/>
                </a:solidFill>
                <a:latin typeface="Segoe UI"/>
              </a:rPr>
              <a:t>Identifiers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44144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890"/>
                </a:solidFill>
                <a:latin typeface="Consolas"/>
              </a:rPr>
              <a:t>USR12345 · usr-12345 · 12345 · TXN-00001234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651760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Segoe UI"/>
              </a:rPr>
              <a:t>digits extracted → USR##### / MCH#### / TXN########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99232"/>
            <a:ext cx="7086600" cy="548640"/>
          </a:xfrm>
          <a:prstGeom prst="roundRect">
            <a:avLst>
              <a:gd name="adj" fmla="val 20000"/>
            </a:avLst>
          </a:prstGeom>
          <a:solidFill>
            <a:srgbClr val="070B1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090672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6D1DC"/>
                </a:solidFill>
                <a:latin typeface="Segoe UI"/>
              </a:rPr>
              <a:t>Amounts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08152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890"/>
                </a:solidFill>
                <a:latin typeface="Consolas"/>
              </a:rPr>
              <a:t>₹23,027.53 · Rs. 6362.9 · 27.3k · Not Available · negatives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291840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Segoe UI"/>
              </a:rPr>
              <a:t>symbols stripped, k×1000, text → null, sign errors flagged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39312"/>
            <a:ext cx="7086600" cy="548640"/>
          </a:xfrm>
          <a:prstGeom prst="roundRect">
            <a:avLst>
              <a:gd name="adj" fmla="val 20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730752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6D1DC"/>
                </a:solidFill>
                <a:latin typeface="Segoe UI"/>
              </a:rPr>
              <a:t>Timestamps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72160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890"/>
                </a:solidFill>
                <a:latin typeface="Consolas"/>
              </a:rPr>
              <a:t>ISO · DD/MM · MM-DD · DD-Mon-YYYY · epoch 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931920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Segoe UI"/>
              </a:rPr>
              <a:t>day/month order proven from the data itself, not assumed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79392"/>
            <a:ext cx="7086600" cy="548640"/>
          </a:xfrm>
          <a:prstGeom prst="roundRect">
            <a:avLst>
              <a:gd name="adj" fmla="val 20000"/>
            </a:avLst>
          </a:prstGeom>
          <a:solidFill>
            <a:srgbClr val="070B1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370831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6D1DC"/>
                </a:solidFill>
                <a:latin typeface="Segoe UI"/>
              </a:rPr>
              <a:t>Enums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36168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890"/>
                </a:solidFill>
                <a:latin typeface="Consolas"/>
              </a:rPr>
              <a:t>16 KYC states · 34 reason spellings · 82 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572000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Segoe UI"/>
              </a:rPr>
              <a:t>canonical sets; MCC ↔ category mapping verified 1:1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19472"/>
            <a:ext cx="7086600" cy="548640"/>
          </a:xfrm>
          <a:prstGeom prst="roundRect">
            <a:avLst>
              <a:gd name="adj" fmla="val 20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010912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6D1DC"/>
                </a:solidFill>
                <a:latin typeface="Segoe UI"/>
              </a:rPr>
              <a:t>Identity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00176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890"/>
                </a:solidFill>
                <a:latin typeface="Consolas"/>
              </a:rPr>
              <a:t>PAN shape · Aadhaar 10/13 digits · 41 city spellings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212080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Segoe UI"/>
              </a:rPr>
              <a:t>validated; only the last 4 Aadhaar digits ever stored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59552"/>
            <a:ext cx="7086600" cy="548640"/>
          </a:xfrm>
          <a:prstGeom prst="roundRect">
            <a:avLst>
              <a:gd name="adj" fmla="val 20000"/>
            </a:avLst>
          </a:prstGeom>
          <a:solidFill>
            <a:srgbClr val="070B1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650992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6D1DC"/>
                </a:solidFill>
                <a:latin typeface="Segoe UI"/>
              </a:rPr>
              <a:t>Duplicates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564184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890"/>
                </a:solidFill>
                <a:latin typeface="Consolas"/>
              </a:rPr>
              <a:t>400 payments · 84 complaints · 278 KYC · 12 merchants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5852160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Segoe UI"/>
              </a:rPr>
              <a:t>removed — they would have inflated value by ₹51.9 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1993392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Two judgement calls that changed the answer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2359152"/>
            <a:ext cx="3547872" cy="13258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19288" y="2359152"/>
            <a:ext cx="3511296" cy="45720"/>
          </a:xfrm>
          <a:prstGeom prst="rect">
            <a:avLst/>
          </a:prstGeom>
          <a:gradFill rotWithShape="1">
            <a:gsLst>
              <a:gs pos="0">
                <a:srgbClr val="FF7B80"/>
              </a:gs>
              <a:gs pos="100000">
                <a:srgbClr val="FF7B8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0" y="258775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Attribute disputes through txn_id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017520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All 2,607 linked complaints carry a user_id and merchant_id that differ from the payment they dispute. Using the complaint's own ids would blame the wrong merchants.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3840480"/>
            <a:ext cx="3547872" cy="13258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19288" y="3840480"/>
            <a:ext cx="3511296" cy="45720"/>
          </a:xfrm>
          <a:prstGeom prst="rect">
            <a:avLst/>
          </a:prstGeom>
          <a:gradFill rotWithShape="1">
            <a:gsLst>
              <a:gs pos="0">
                <a:srgbClr val="FBC54A"/>
              </a:gs>
              <a:gs pos="100000">
                <a:srgbClr val="FBC54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0" y="40690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Measure delay from the complaint's own 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498848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Against the linked payment, 1,057 complaints look reported before the payment; against their own transaction date only 149 do, with a sane median of 3.2 days.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01000" y="5321808"/>
            <a:ext cx="3547872" cy="8686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0" y="545896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6B7890"/>
                </a:solidFill>
                <a:latin typeface="Consolas"/>
              </a:rPr>
              <a:t>FAKE VOLUME AVOIDED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632704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6D1DC"/>
                </a:solidFill>
                <a:latin typeface="Segoe UI"/>
              </a:rPr>
              <a:t>₹51.9 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5632704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AFC2"/>
                </a:solidFill>
                <a:latin typeface="Segoe UI"/>
              </a:rPr>
              <a:t>400 duplicate payments
removed before any ratio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src/clean.py  ·  every decision counted in outputs/data_quality_report.csv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DATA QUALITY  ·  LIVE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The pipeline shows its own working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19" y="1531620"/>
            <a:ext cx="7818120" cy="4672148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1_pipel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0080" y="1554480"/>
            <a:ext cx="7772400" cy="462642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686800" y="1801368"/>
            <a:ext cx="256032" cy="25603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181965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0848" y="1783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70-check ledger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2029967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Every check names what was wrong, how many rows it touched and what the pipeline did about it.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0" y="2944368"/>
            <a:ext cx="256032" cy="256032"/>
          </a:xfrm>
          <a:prstGeom prst="ellipse">
            <a:avLst/>
          </a:prstGeom>
          <a:solidFill>
            <a:srgbClr val="FF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96265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926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Coverage is stated, not hidden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3172968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32.4% of payments match a KYC record and 48.2% a master merchant — orphans are kept and flagged.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0" y="4087368"/>
            <a:ext cx="256032" cy="256032"/>
          </a:xfrm>
          <a:prstGeom prst="ellipse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0" y="4105655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4069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Flags travel with the 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4315968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was_negative, utr_status, pan_status, id_record_count stay on the fact tables for any analyst to filter.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0" y="5230368"/>
            <a:ext cx="256032" cy="256032"/>
          </a:xfrm>
          <a:prstGeom prst="ellipse">
            <a:avLst/>
          </a:prstGeom>
          <a:solidFill>
            <a:srgbClr val="3EC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5248655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5212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Reproducible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5458968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One command rebuilds every table, metric and page from the raw files.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outputs/data_quality_report.csv  ·  outputs/clean/*.csv  ·  outputs/upi_analytics.db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FINDING 01  ·  KYC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Identity is the biggest control gap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19" y="1531620"/>
            <a:ext cx="7223759" cy="4318362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9_identity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0080" y="1554480"/>
            <a:ext cx="7178040" cy="42726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691640"/>
            <a:ext cx="3456432" cy="1207008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185623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7B80"/>
                </a:solidFill>
                <a:latin typeface="Segoe UI"/>
              </a:rPr>
              <a:t>67.6%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26771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8EEF8"/>
                </a:solidFill>
                <a:latin typeface="Segoe UI"/>
              </a:rPr>
              <a:t>of payments have no KYC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4963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AFC2"/>
                </a:solidFill>
                <a:latin typeface="Segoe UI"/>
              </a:rPr>
              <a:t>₹16.95 Cr — 67.9% of value — from customer ids with no identity behind them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063240"/>
            <a:ext cx="3456432" cy="1207008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322783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29A76"/>
                </a:solidFill>
                <a:latin typeface="Segoe UI"/>
              </a:rPr>
              <a:t>15.0%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63931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8EEF8"/>
                </a:solidFill>
                <a:latin typeface="Segoe UI"/>
              </a:rPr>
              <a:t>dispute rate for rejected KYC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8679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AFC2"/>
                </a:solidFill>
                <a:latin typeface="Segoe UI"/>
              </a:rPr>
              <a:t>versus 13.2% verified and 8.9% pending: rejected customers are still transacting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434840"/>
            <a:ext cx="3456432" cy="1207008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4599431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BC54A"/>
                </a:solidFill>
                <a:latin typeface="Segoe UI"/>
              </a:rPr>
              <a:t>6,288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01091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8EEF8"/>
                </a:solidFill>
                <a:latin typeface="Segoe UI"/>
              </a:rPr>
              <a:t>customer ids map to several people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2395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AFC2"/>
                </a:solidFill>
                <a:latin typeface="Segoe UI"/>
              </a:rPr>
              <a:t>plus 1,412 merchant ids; every colliding record is kept in *_all_records.csv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5806440"/>
            <a:ext cx="3456432" cy="411480"/>
          </a:xfrm>
          <a:prstGeom prst="roundRect">
            <a:avLst>
              <a:gd name="adj" fmla="val 6000"/>
            </a:avLst>
          </a:prstGeom>
          <a:solidFill>
            <a:srgbClr val="1A223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59161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6D1DC"/>
                </a:solidFill>
                <a:latin typeface="Segoe UI"/>
              </a:rPr>
              <a:t>Fix onboarding before tuning detection.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KYC view  ·  identity-gap treemap, dispute rate by KYC state, customer base composition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FINDING 02  · 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One in eight payments is disputed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19" y="1531620"/>
            <a:ext cx="7223759" cy="4318362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8_dispute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0080" y="1554480"/>
            <a:ext cx="7178040" cy="42726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691640"/>
            <a:ext cx="3456432" cy="1207008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185623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7B80"/>
                </a:solidFill>
                <a:latin typeface="Segoe UI"/>
              </a:rPr>
              <a:t>37%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26771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8EEF8"/>
                </a:solidFill>
                <a:latin typeface="Segoe UI"/>
              </a:rPr>
              <a:t>fraud-type complaints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4963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AFC2"/>
                </a:solidFill>
                <a:latin typeface="Segoe UI"/>
              </a:rPr>
              <a:t>account takeover, unauthorised and suspected fraud: 1,042 of 2,800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063240"/>
            <a:ext cx="3456432" cy="1207008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322783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BC54A"/>
                </a:solidFill>
                <a:latin typeface="Segoe UI"/>
              </a:rPr>
              <a:t>53%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63931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8EEF8"/>
                </a:solidFill>
                <a:latin typeface="Segoe UI"/>
              </a:rPr>
              <a:t>still unresolved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8679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AFC2"/>
                </a:solidFill>
                <a:latin typeface="Segoe UI"/>
              </a:rPr>
              <a:t>1,492 complaints open, in progress or pending with the bank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434840"/>
            <a:ext cx="3456432" cy="1207008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4599431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29A76"/>
                </a:solidFill>
                <a:latin typeface="Segoe UI"/>
              </a:rPr>
              <a:t>666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01091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8EEF8"/>
                </a:solidFill>
                <a:latin typeface="Segoe UI"/>
              </a:rPr>
              <a:t>reported after 7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2395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AFC2"/>
                </a:solidFill>
                <a:latin typeface="Segoe UI"/>
              </a:rPr>
              <a:t>unauthorised payments are the latest — 27% past the 7-day mark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5806440"/>
            <a:ext cx="3456432" cy="411480"/>
          </a:xfrm>
          <a:prstGeom prst="roundRect">
            <a:avLst>
              <a:gd name="adj" fmla="val 6000"/>
            </a:avLst>
          </a:prstGeom>
          <a:solidFill>
            <a:srgbClr val="1A223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8472" y="5869661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dirty="0">
                <a:solidFill>
                  <a:srgbClr val="36D1DC"/>
                </a:solidFill>
                <a:latin typeface="Segoe UI"/>
              </a:rPr>
              <a:t>Takeovers surface fastest (6.8 d), duplicate debits slowest (9.9 d).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Disputes view  ·  reason × severity heatmap, reporting-delay curve, resolution backlog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FINDING 03  · 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Fraud is networked, so we score networks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19" y="1531620"/>
            <a:ext cx="7223759" cy="4318362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4_ring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0080" y="1554480"/>
            <a:ext cx="7178040" cy="427264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092440" y="1755648"/>
            <a:ext cx="256032" cy="25603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177393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6488" y="1737360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E8EEF8"/>
                </a:solidFill>
                <a:latin typeface="Segoe UI"/>
              </a:rPr>
              <a:t>121 connected rings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1984248"/>
            <a:ext cx="30723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Components of dispute-touched customers and merchants with at least four members, drawn strongest-first.</a:t>
            </a:r>
          </a:p>
        </p:txBody>
      </p:sp>
      <p:sp>
        <p:nvSpPr>
          <p:cNvPr id="13" name="Oval 12"/>
          <p:cNvSpPr/>
          <p:nvPr/>
        </p:nvSpPr>
        <p:spPr>
          <a:xfrm>
            <a:off x="8092440" y="2926079"/>
            <a:ext cx="256032" cy="256032"/>
          </a:xfrm>
          <a:prstGeom prst="ellipse">
            <a:avLst/>
          </a:prstGeom>
          <a:solidFill>
            <a:srgbClr val="FF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2944368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907791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E8EEF8"/>
                </a:solidFill>
                <a:latin typeface="Segoe UI"/>
              </a:rPr>
              <a:t>CL001 · score 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3154679"/>
            <a:ext cx="30723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dirty="0">
                <a:solidFill>
                  <a:srgbClr val="A3AFC2"/>
                </a:solidFill>
                <a:latin typeface="Segoe UI"/>
              </a:rPr>
              <a:t>6 customers and 4 merchants, 9 payments, 8 chargebacks, 4 fraud-type, 4 unverified customers, hub MCH1366.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4096511"/>
            <a:ext cx="256032" cy="256032"/>
          </a:xfrm>
          <a:prstGeom prst="ellipse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92440" y="4114799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2397" y="4105656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dirty="0">
                <a:solidFill>
                  <a:srgbClr val="E8EEF8"/>
                </a:solidFill>
                <a:latin typeface="Segoe UI"/>
              </a:rPr>
              <a:t>Score = 2×CB + 3×fraud + unverified + ₹/10k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2397" y="4543479"/>
            <a:ext cx="30723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dirty="0">
                <a:solidFill>
                  <a:srgbClr val="A3AFC2"/>
                </a:solidFill>
                <a:latin typeface="Segoe UI"/>
              </a:rPr>
              <a:t>Ranked so a reviewer starts with the ring that carries the most money and the most fraud.</a:t>
            </a:r>
          </a:p>
        </p:txBody>
      </p:sp>
      <p:sp>
        <p:nvSpPr>
          <p:cNvPr id="21" name="Oval 20"/>
          <p:cNvSpPr/>
          <p:nvPr/>
        </p:nvSpPr>
        <p:spPr>
          <a:xfrm>
            <a:off x="8092440" y="5266944"/>
            <a:ext cx="256032" cy="256032"/>
          </a:xfrm>
          <a:prstGeom prst="ellipse">
            <a:avLst/>
          </a:prstGeom>
          <a:solidFill>
            <a:srgbClr val="3EC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92440" y="5285231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5248656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E8EEF8"/>
                </a:solidFill>
                <a:latin typeface="Segoe UI"/>
              </a:rPr>
              <a:t>Circular laundering: 0 rings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5495544"/>
            <a:ext cx="30723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22,513 accounts and 16,393 payments checked. Every payment runs user → merchant, so no cycle can exist — proven, not assumed.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src/agent.py property graph  ·  src/cycles.py laundering engine, 15 unit tests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EXPLAINABLE RISK  ·  ENTITY 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Every score explains itself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14241" y="1513332"/>
            <a:ext cx="4127996" cy="4754880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7_entity360.png"/>
          <p:cNvPicPr>
            <a:picLocks noChangeAspect="1"/>
          </p:cNvPicPr>
          <p:nvPr/>
        </p:nvPicPr>
        <p:blipFill>
          <a:blip r:embed="rId2"/>
          <a:srcRect l="48400"/>
          <a:stretch>
            <a:fillRect/>
          </a:stretch>
        </p:blipFill>
        <p:spPr>
          <a:xfrm>
            <a:off x="6737101" y="1536192"/>
            <a:ext cx="4082276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600200"/>
            <a:ext cx="5120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3AFC2"/>
                </a:solidFill>
                <a:latin typeface="Segoe UI"/>
              </a:rPr>
              <a:t>An analyst never sees a bare number. Opening any entity shows the signals that fired, what each one added, its payment timeline and who it shares counterparties with.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32304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6D1DC"/>
                </a:solidFill>
                <a:latin typeface="Consolas"/>
              </a:rPr>
              <a:t>MERCHANT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06624"/>
            <a:ext cx="5120640" cy="320040"/>
          </a:xfrm>
          <a:prstGeom prst="roundRect">
            <a:avLst>
              <a:gd name="adj" fmla="val 30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77063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F7B80"/>
                </a:solidFill>
                <a:latin typeface="Consolas"/>
              </a:rPr>
              <a:t>+25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70632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3AFC2"/>
                </a:solidFill>
                <a:latin typeface="Segoe UI"/>
              </a:rPr>
              <a:t>repeated disputes (≥2)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90672"/>
            <a:ext cx="5120640" cy="320040"/>
          </a:xfrm>
          <a:prstGeom prst="roundRect">
            <a:avLst>
              <a:gd name="adj" fmla="val 30000"/>
            </a:avLst>
          </a:prstGeom>
          <a:solidFill>
            <a:srgbClr val="070B1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154679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F7B80"/>
                </a:solidFill>
                <a:latin typeface="Consolas"/>
              </a:rPr>
              <a:t>+15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54679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3AFC2"/>
                </a:solidFill>
                <a:latin typeface="Segoe UI"/>
              </a:rPr>
              <a:t>chargeback ratio ≥30% on ≥3 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5120640" cy="320040"/>
          </a:xfrm>
          <a:prstGeom prst="roundRect">
            <a:avLst>
              <a:gd name="adj" fmla="val 30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538727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29A76"/>
                </a:solidFill>
                <a:latin typeface="Consolas"/>
              </a:rPr>
              <a:t>+15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538727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3AFC2"/>
                </a:solidFill>
                <a:latin typeface="Segoe UI"/>
              </a:rPr>
              <a:t>any fraud-type dispute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58768"/>
            <a:ext cx="5120640" cy="320040"/>
          </a:xfrm>
          <a:prstGeom prst="roundRect">
            <a:avLst>
              <a:gd name="adj" fmla="val 30000"/>
            </a:avLst>
          </a:prstGeom>
          <a:solidFill>
            <a:srgbClr val="070B1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92277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29A76"/>
                </a:solidFill>
                <a:latin typeface="Consolas"/>
              </a:rPr>
              <a:t>+10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92277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3AFC2"/>
                </a:solidFill>
                <a:latin typeface="Segoe UI"/>
              </a:rPr>
              <a:t>top-decile disputed amount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42816"/>
            <a:ext cx="5120640" cy="320040"/>
          </a:xfrm>
          <a:prstGeom prst="roundRect">
            <a:avLst>
              <a:gd name="adj" fmla="val 30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0682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BC54A"/>
                </a:solidFill>
                <a:latin typeface="Consolas"/>
              </a:rPr>
              <a:t>+10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30682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3AFC2"/>
                </a:solidFill>
                <a:latin typeface="Segoe UI"/>
              </a:rPr>
              <a:t>transacting while not active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626864"/>
            <a:ext cx="5120640" cy="320040"/>
          </a:xfrm>
          <a:prstGeom prst="roundRect">
            <a:avLst>
              <a:gd name="adj" fmla="val 30000"/>
            </a:avLst>
          </a:prstGeom>
          <a:solidFill>
            <a:srgbClr val="070B1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6908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987E5"/>
                </a:solidFill>
                <a:latin typeface="Consolas"/>
              </a:rPr>
              <a:t>+5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690872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3AFC2"/>
                </a:solidFill>
                <a:latin typeface="Segoe UI"/>
              </a:rPr>
              <a:t>absent from the merchant master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29200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890"/>
                </a:solidFill>
                <a:latin typeface="Consolas"/>
              </a:rPr>
              <a:t>High ≥ 50  ·  medium 30–49  ·  worklists in outputs/risk/*.csv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321808"/>
            <a:ext cx="1627632" cy="8686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59" y="546811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7B80"/>
                </a:solidFill>
                <a:latin typeface="Segoe UI"/>
              </a:rPr>
              <a:t>234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581558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A3AFC2"/>
                </a:solidFill>
                <a:latin typeface="Segoe UI"/>
              </a:rPr>
              <a:t>high-risk merchants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77439" y="5321808"/>
            <a:ext cx="1627632" cy="8686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560320" y="546811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29A76"/>
                </a:solidFill>
                <a:latin typeface="Segoe UI"/>
              </a:rPr>
              <a:t>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581558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A3AFC2"/>
                </a:solidFill>
                <a:latin typeface="Segoe UI"/>
              </a:rPr>
              <a:t>high-risk users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0" y="5321808"/>
            <a:ext cx="1627632" cy="8686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97680" y="546811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BC54A"/>
                </a:solidFill>
                <a:latin typeface="Segoe UI"/>
              </a:rPr>
              <a:t>381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81558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A3AFC2"/>
                </a:solidFill>
                <a:latin typeface="Segoe UI"/>
              </a:rPr>
              <a:t>repeat disputers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Entities view  ·  score waterfall, activity timeline, ego network, one-click case filing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LEAK-FREE RULE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Replay the quarter as if it were live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19" y="1531620"/>
            <a:ext cx="7818120" cy="4672148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3_live_eng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0080" y="1554480"/>
            <a:ext cx="7772400" cy="462642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686800" y="1801368"/>
            <a:ext cx="256032" cy="25603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181965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0848" y="1783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Time-ordered replay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2029967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All 20,000 de-duplicated payments stream through the engine in the order they happened.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0" y="2944368"/>
            <a:ext cx="256032" cy="256032"/>
          </a:xfrm>
          <a:prstGeom prst="ellipse">
            <a:avLst/>
          </a:prstGeom>
          <a:solidFill>
            <a:srgbClr val="FF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96265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926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No leakage by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3172968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A decision only uses what was known at that moment; a chargeback counts only after it was reported.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0" y="4087368"/>
            <a:ext cx="256032" cy="256032"/>
          </a:xfrm>
          <a:prstGeom prst="ellipse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0" y="4105655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4069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Hold · review · allow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4315968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Score ≥ 60 holds, 30–59 goes to review; every row shows which rules fired and what they added.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0" y="5230368"/>
            <a:ext cx="256032" cy="256032"/>
          </a:xfrm>
          <a:prstGeom prst="ellipse">
            <a:avLst/>
          </a:prstGeom>
          <a:solidFill>
            <a:srgbClr val="FB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5248655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5212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It scores itself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5458968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As disputes surface, the engine reports its own precision and lift — including when the honest answer is none yet.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Live view  ·  the same rules an issuer would run in production, replayed on history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AI RISK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Five agents that work the desk, not just talk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18219" y="1549908"/>
            <a:ext cx="2971800" cy="3804815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2_agents.png"/>
          <p:cNvPicPr>
            <a:picLocks noChangeAspect="1"/>
          </p:cNvPicPr>
          <p:nvPr/>
        </p:nvPicPr>
        <p:blipFill>
          <a:blip r:embed="rId2"/>
          <a:srcRect l="72200" b="40000"/>
          <a:stretch>
            <a:fillRect/>
          </a:stretch>
        </p:blipFill>
        <p:spPr>
          <a:xfrm>
            <a:off x="8641080" y="1572768"/>
            <a:ext cx="2926080" cy="37590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55321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7890"/>
                </a:solidFill>
                <a:latin typeface="Segoe UI"/>
              </a:rPr>
              <a:t>The Investigator ran its tools and filed MCH9572 into the case queue.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72768"/>
            <a:ext cx="7680960" cy="640080"/>
          </a:xfrm>
          <a:prstGeom prst="roundRect">
            <a:avLst>
              <a:gd name="adj" fmla="val 18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1783080"/>
            <a:ext cx="219456" cy="219456"/>
          </a:xfrm>
          <a:prstGeom prst="ellipse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169164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E8EEF8"/>
                </a:solidFill>
                <a:latin typeface="Segoe UI"/>
              </a:rPr>
              <a:t>Risk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709928"/>
            <a:ext cx="5166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3AFC2"/>
                </a:solidFill>
                <a:latin typeface="Segoe UI"/>
              </a:rPr>
              <a:t>plans, routes and delegates to specialists in parallel, then synthesises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04288"/>
            <a:ext cx="7680960" cy="640080"/>
          </a:xfrm>
          <a:prstGeom prst="roundRect">
            <a:avLst>
              <a:gd name="adj" fmla="val 18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2514600"/>
            <a:ext cx="219456" cy="219456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242316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E8EEF8"/>
                </a:solidFill>
                <a:latin typeface="Segoe UI"/>
              </a:rPr>
              <a:t>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441448"/>
            <a:ext cx="5166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3AFC2"/>
                </a:solidFill>
                <a:latin typeface="Segoe UI"/>
              </a:rPr>
              <a:t>KPIs, breakdowns, trends, rankings, period comparisons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35808"/>
            <a:ext cx="7680960" cy="640080"/>
          </a:xfrm>
          <a:prstGeom prst="roundRect">
            <a:avLst>
              <a:gd name="adj" fmla="val 18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3246120"/>
            <a:ext cx="219456" cy="219456"/>
          </a:xfrm>
          <a:prstGeom prst="ellipse">
            <a:avLst/>
          </a:prstGeom>
          <a:solidFill>
            <a:srgbClr val="FF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315468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E8EEF8"/>
                </a:solidFill>
                <a:latin typeface="Segoe UI"/>
              </a:rPr>
              <a:t>Investigator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172968"/>
            <a:ext cx="5166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3AFC2"/>
                </a:solidFill>
                <a:latin typeface="Segoe UI"/>
              </a:rPr>
              <a:t>entity and ring deep dives: score explained signal by signal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67328"/>
            <a:ext cx="7680960" cy="640080"/>
          </a:xfrm>
          <a:prstGeom prst="roundRect">
            <a:avLst>
              <a:gd name="adj" fmla="val 18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68680" y="3977640"/>
            <a:ext cx="219456" cy="219456"/>
          </a:xfrm>
          <a:prstGeom prst="ellipse">
            <a:avLst/>
          </a:prstGeom>
          <a:solidFill>
            <a:srgbClr val="FB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388620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E8EEF8"/>
                </a:solidFill>
                <a:latin typeface="Segoe UI"/>
              </a:rPr>
              <a:t>Sentinel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904488"/>
            <a:ext cx="5166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3AFC2"/>
                </a:solidFill>
                <a:latin typeface="Segoe UI"/>
              </a:rPr>
              <a:t>anomaly detectors: identity gap, rejected-KYC activity, backlog, spikes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98848"/>
            <a:ext cx="7680960" cy="640080"/>
          </a:xfrm>
          <a:prstGeom prst="roundRect">
            <a:avLst>
              <a:gd name="adj" fmla="val 18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68680" y="4709160"/>
            <a:ext cx="219456" cy="219456"/>
          </a:xfrm>
          <a:prstGeom prst="ellipse">
            <a:avLst/>
          </a:prstGeom>
          <a:solidFill>
            <a:srgbClr val="3EC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34440" y="461772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E8EEF8"/>
                </a:solidFill>
                <a:latin typeface="Segoe UI"/>
              </a:rPr>
              <a:t>Reporter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4636008"/>
            <a:ext cx="5166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3AFC2"/>
                </a:solidFill>
                <a:latin typeface="Segoe UI"/>
              </a:rPr>
              <a:t>executive briefs and case-queue summaries with next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4924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6D1DC"/>
                </a:solidFill>
                <a:latin typeface="Segoe UI"/>
              </a:rPr>
              <a:t>Two brains, one tool registry.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With an Anthropic key the agents run on Claude Opus 5 — streamed reasoning, real tool use, real delegation. Without one, a deterministic local reasoning engine plans the same 16 tools, so the demo never breaks. Tools filter the desk, open entities and file cases, and every answer shows its trace. src/llm_agent.py runs the same team in Python over a read-only SQL tool that blocks writes and PAN / Aadhaar / UTR columns.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dashboard/command_center/js/08_tools.js · 09_agents.js · 10_local.js  ·  tests/test_llm_tools.py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TERMINAL AGENT  ·  REAL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Ask the graph in plain English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19" y="1577340"/>
            <a:ext cx="7269480" cy="2659407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5_graph_agen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0080" y="1600200"/>
            <a:ext cx="7223760" cy="26136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572000"/>
            <a:ext cx="7223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A3AFC2"/>
                </a:solidFill>
                <a:latin typeface="Segoe UI"/>
              </a:rPr>
              <a:t>Every answer is a traversal of the property graph — built from the cleaned model, so the number on screen can always be traced back to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66360"/>
            <a:ext cx="2286000" cy="105156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533095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987E5"/>
                </a:solidFill>
                <a:latin typeface="Segoe UI"/>
              </a:rPr>
              <a:t>72K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568756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AFC2"/>
                </a:solidFill>
                <a:latin typeface="Segoe UI"/>
              </a:rPr>
              <a:t>nodes: users, payments, merchants, categories, complaints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5166360"/>
            <a:ext cx="2286000" cy="105156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0128" y="533095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6D1DC"/>
                </a:solidFill>
                <a:latin typeface="Segoe UI"/>
              </a:rPr>
              <a:t>106K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568756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AFC2"/>
                </a:solidFill>
                <a:latin typeface="Segoe UI"/>
              </a:rPr>
              <a:t>edges: PAID · TO · DISPUTED_BY · HAS_KYC · IN_CATEGORY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5166360"/>
            <a:ext cx="2286000" cy="105156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79008" y="533095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ECF6E"/>
                </a:solidFill>
                <a:latin typeface="Segoe UI"/>
              </a:rPr>
              <a:t>12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568756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AFC2"/>
                </a:solidFill>
                <a:latin typeface="Segoe UI"/>
              </a:rPr>
              <a:t>datathon example questions answered end to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1627632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6D1DC"/>
                </a:solidFill>
                <a:latin typeface="Consolas"/>
              </a:rPr>
              <a:t>EXAMPLE QUERIES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938528"/>
            <a:ext cx="3456432" cy="621792"/>
          </a:xfrm>
          <a:prstGeom prst="roundRect">
            <a:avLst>
              <a:gd name="adj" fmla="val 18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EEF8"/>
                </a:solidFill>
                <a:latin typeface="Segoe UI"/>
              </a:rPr>
              <a:t>"Which merchant has the highest chargeback-to-transaction ratio?"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2688336"/>
            <a:ext cx="3456432" cy="621792"/>
          </a:xfrm>
          <a:prstGeom prst="roundRect">
            <a:avLst>
              <a:gd name="adj" fmla="val 18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2798064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EEF8"/>
                </a:solidFill>
                <a:latin typeface="Segoe UI"/>
              </a:rPr>
              <a:t>"Are any merchants sharing an unusual number of disputing customers?"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438144"/>
            <a:ext cx="3456432" cy="621792"/>
          </a:xfrm>
          <a:prstGeom prst="roundRect">
            <a:avLst>
              <a:gd name="adj" fmla="val 18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547872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EEF8"/>
                </a:solidFill>
                <a:latin typeface="Segoe UI"/>
              </a:rPr>
              <a:t>"Find suspicious fraud rings in the payment graph."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4187952"/>
            <a:ext cx="3456432" cy="621792"/>
          </a:xfrm>
          <a:prstGeom prst="roundRect">
            <a:avLst>
              <a:gd name="adj" fmla="val 18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42976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EEF8"/>
                </a:solidFill>
                <a:latin typeface="Segoe UI"/>
              </a:rPr>
              <a:t>"Investigate MCH9572."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5029200"/>
            <a:ext cx="3456432" cy="1188720"/>
          </a:xfrm>
          <a:prstGeom prst="roundRect">
            <a:avLst>
              <a:gd name="adj" fmla="val 6000"/>
            </a:avLst>
          </a:prstGeom>
          <a:solidFill>
            <a:srgbClr val="1A223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5230368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All 12 datathon example questions are answered in outputs/agent_demo.md, produced by the same deterministic router — no model call needed.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py src/agent.py --ask "..."  ·  py src/llm_agent.py for the Claude-powered team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DETECTION QUALITY  ·  HONEST BACKTEST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We report what the scores cannot do yet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19" y="1531620"/>
            <a:ext cx="7818120" cy="4672148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0_model_backtes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0080" y="1554480"/>
            <a:ext cx="7772400" cy="462642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686800" y="1801368"/>
            <a:ext cx="256032" cy="25603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181965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0848" y="1783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Out-of-time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2029967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Score on 1 Jan – 28 Feb using only chargebacks reported by then; test on fraud-type disputes in March.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0" y="2944368"/>
            <a:ext cx="256032" cy="256032"/>
          </a:xfrm>
          <a:prstGeom prst="ellipse">
            <a:avLst/>
          </a:prstGeom>
          <a:solidFill>
            <a:srgbClr val="FF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96265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926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AUC 0.47 / 0.53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3172968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Merchant and customer scores are no better than a coin flip on next-month fraud. We show it rather than hide it.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0" y="4087368"/>
            <a:ext cx="256032" cy="256032"/>
          </a:xfrm>
          <a:prstGeom prst="ellipse">
            <a:avLst/>
          </a:prstGeom>
          <a:solidFill>
            <a:srgbClr val="FB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0" y="4105655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4069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Some signals do carry lift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4315968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Unverified KYC 4.0×, high-value chargeback 2.7×, no KYC record 2.0× — but on samples too small to reweight.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0" y="5230368"/>
            <a:ext cx="256032" cy="256032"/>
          </a:xfrm>
          <a:prstGeom prst="ellipse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5248655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0B14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5212080"/>
            <a:ext cx="24963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Tracked every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5458968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3AFC2"/>
                </a:solidFill>
                <a:latin typeface="Segoe UI"/>
              </a:rPr>
              <a:t>metrics_history.csv appends each run's KPIs and AUC, so drift is visible before anyone trusts the score.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Model view  ·  outputs/risk/backtest_tiers.csv · backtest_signals.csv · outputs/metrics_history.csv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The tempting explanations we ruled out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3AFC2"/>
                </a:solidFill>
                <a:latin typeface="Segoe UI"/>
              </a:rPr>
              <a:t>A risk desk is only credible if it also reports the hypotheses that died.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10908792" cy="566928"/>
          </a:xfrm>
          <a:prstGeom prst="roundRect">
            <a:avLst>
              <a:gd name="adj" fmla="val 20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Missing UTR predicts failure or dispute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185416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Consolas"/>
              </a:rPr>
              <a:t>failed 9.7% vs 9.8%  ·  disputed 12.6% vs 12.2%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185416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3ECF6E"/>
                </a:solidFill>
                <a:latin typeface="Consolas"/>
              </a:rPr>
              <a:t>NO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97480"/>
            <a:ext cx="10908792" cy="566928"/>
          </a:xfrm>
          <a:prstGeom prst="roundRect">
            <a:avLst>
              <a:gd name="adj" fmla="val 20000"/>
            </a:avLst>
          </a:prstGeom>
          <a:solidFill>
            <a:srgbClr val="070B1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86207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Failures cluster at peak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871216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Consolas"/>
              </a:rPr>
              <a:t>8–11% every hour of the day, Sunday lowest at 8.8%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871216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3ECF6E"/>
                </a:solidFill>
                <a:latin typeface="Consolas"/>
              </a:rPr>
              <a:t>SYSTEMIC, NOT 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08792" cy="566928"/>
          </a:xfrm>
          <a:prstGeom prst="roundRect">
            <a:avLst>
              <a:gd name="adj" fmla="val 20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54787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Volume spikes precede disputes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557016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Consolas"/>
              </a:rPr>
              <a:t>2 spike days across the quarter, 0 follow-on disputes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557016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3ECF6E"/>
                </a:solidFill>
                <a:latin typeface="Consolas"/>
              </a:rPr>
              <a:t>NOT PRESENT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10908792" cy="566928"/>
          </a:xfrm>
          <a:prstGeom prst="roundRect">
            <a:avLst>
              <a:gd name="adj" fmla="val 20000"/>
            </a:avLst>
          </a:prstGeom>
          <a:solidFill>
            <a:srgbClr val="070B1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23367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Duplicate-debit complaints match duplicate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242816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Consolas"/>
              </a:rPr>
              <a:t>352 complaints, 0 repeats within 24 h after de-duplication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242816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3ECF6E"/>
                </a:solidFill>
                <a:latin typeface="Consolas"/>
              </a:rPr>
              <a:t>WAS A FEED DEFECT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54880"/>
            <a:ext cx="10908792" cy="566928"/>
          </a:xfrm>
          <a:prstGeom prst="roundRect">
            <a:avLst>
              <a:gd name="adj" fmla="val 20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91947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Money moves in laundering loops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928616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Consolas"/>
              </a:rPr>
              <a:t>22,513 accounts, 16,393 payments, 0 cyclic components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928616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3987E5"/>
                </a:solidFill>
                <a:latin typeface="Consolas"/>
              </a:rPr>
              <a:t>IMPOSSIBLE HERE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40680"/>
            <a:ext cx="10908792" cy="566928"/>
          </a:xfrm>
          <a:prstGeom prst="roundRect">
            <a:avLst>
              <a:gd name="adj" fmla="val 20000"/>
            </a:avLst>
          </a:prstGeom>
          <a:solidFill>
            <a:srgbClr val="070B1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60527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EEF8"/>
                </a:solidFill>
                <a:latin typeface="Segoe UI"/>
              </a:rPr>
              <a:t>The scores predict next-month fraud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5614416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3AFC2"/>
                </a:solidFill>
                <a:latin typeface="Consolas"/>
              </a:rPr>
              <a:t>merchant AUC 0.47  ·  customer AUC 0.53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5614416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FBC54A"/>
                </a:solidFill>
                <a:latin typeface="Consolas"/>
              </a:rPr>
              <a:t>WORKLIST, NOT FORECAST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Each test is reproducible from outputs/metrics.json and the risk worklists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FROM INSIGHT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What the risk team should change on Monday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17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938528"/>
            <a:ext cx="384048" cy="384048"/>
          </a:xfrm>
          <a:prstGeom prst="ellipse">
            <a:avLst/>
          </a:prstGeom>
          <a:solidFill>
            <a:srgbClr val="FF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956816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70B14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0195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EEF8"/>
                </a:solidFill>
                <a:latin typeface="Segoe UI"/>
              </a:rPr>
              <a:t>Gate rejected KYC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74519"/>
            <a:ext cx="7040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AFC2"/>
                </a:solidFill>
                <a:latin typeface="Segoe UI"/>
              </a:rPr>
              <a:t>Rejected customers still transact and dispute the most (15.0%). Block or step up UPI payments until identity is resolved.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34440" y="2542032"/>
            <a:ext cx="10287000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58368" y="2852928"/>
            <a:ext cx="384048" cy="384048"/>
          </a:xfrm>
          <a:prstGeom prst="ellipse">
            <a:avLst/>
          </a:prstGeom>
          <a:solidFill>
            <a:srgbClr val="F29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871216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70B14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1635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EEF8"/>
                </a:solidFill>
                <a:latin typeface="Segoe UI"/>
              </a:rPr>
              <a:t>Close the identity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88920"/>
            <a:ext cx="7040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AFC2"/>
                </a:solidFill>
                <a:latin typeface="Segoe UI"/>
              </a:rPr>
              <a:t>68% of payment value has no KYC record behind it and 6,288 ids are shared. Fix onboarding and id hygiene before tuning any model.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34440" y="3456432"/>
            <a:ext cx="10287000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58368" y="3767328"/>
            <a:ext cx="384048" cy="384048"/>
          </a:xfrm>
          <a:prstGeom prst="ellipse">
            <a:avLst/>
          </a:prstGeom>
          <a:solidFill>
            <a:srgbClr val="FB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785615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70B14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3075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EEF8"/>
                </a:solidFill>
                <a:latin typeface="Segoe UI"/>
              </a:rPr>
              <a:t>Escalate late fraud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703320"/>
            <a:ext cx="7040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AFC2"/>
                </a:solidFill>
                <a:latin typeface="Segoe UI"/>
              </a:rPr>
              <a:t>Unauthorised complaints are the latest to arrive (27% past 7 days). Route them to an accelerated queue instead of the general backlog.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34440" y="4370832"/>
            <a:ext cx="10287000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58368" y="4681728"/>
            <a:ext cx="384048" cy="384048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4700016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70B14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4515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EEF8"/>
                </a:solidFill>
                <a:latin typeface="Segoe UI"/>
              </a:rPr>
              <a:t>Investigate rings, not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617720"/>
            <a:ext cx="7040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AFC2"/>
                </a:solidFill>
                <a:latin typeface="Segoe UI"/>
              </a:rPr>
              <a:t>121 components link disputing customers through shared merchants. Work the ring leaderboard top-down and file cases from the desk.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34440" y="5285232"/>
            <a:ext cx="10287000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58368" y="5596128"/>
            <a:ext cx="384048" cy="384048"/>
          </a:xfrm>
          <a:prstGeom prst="ellipse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5614416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70B14"/>
                </a:solidFill>
                <a:latin typeface="Segoe U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5955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EEF8"/>
                </a:solidFill>
                <a:latin typeface="Segoe UI"/>
              </a:rPr>
              <a:t>Keep txn_id as the source of truth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532120"/>
            <a:ext cx="7040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3AFC2"/>
                </a:solidFill>
                <a:latin typeface="Segoe UI"/>
              </a:rPr>
              <a:t>Complaint-side ids disagree with the payment they dispute. Attribution through txn_id is what keeps merchant ratios honest.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6355080"/>
            <a:ext cx="10908792" cy="0"/>
          </a:xfrm>
          <a:prstGeom prst="roundRect">
            <a:avLst>
              <a:gd name="adj" fmla="val 6000"/>
            </a:avLst>
          </a:prstGeom>
          <a:solidFill>
            <a:srgbClr val="1A223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Next milestone: earn predictive power — re-weight from the backtest, add velocity features, promote only signals whose out-of-time lift holds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Segoe UI"/>
              </a:rPr>
              <a:t>Two-minute live demo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606040" cy="40690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2569464" cy="45720"/>
          </a:xfrm>
          <a:prstGeom prst="rect">
            <a:avLst/>
          </a:prstGeom>
          <a:gradFill rotWithShape="1">
            <a:gsLst>
              <a:gs pos="0">
                <a:srgbClr val="36D1DC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6D1DC"/>
                </a:solidFill>
                <a:latin typeface="Consolas"/>
              </a:rPr>
              <a:t>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6596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6B7890"/>
                </a:solidFill>
                <a:latin typeface="Consolas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EF8"/>
                </a:solidFill>
                <a:latin typeface="Segoe UI"/>
              </a:rPr>
              <a:t>Open the Command Center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19" y="2720340"/>
            <a:ext cx="2194560" cy="1196884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1_overview.png"/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868680" y="2743200"/>
            <a:ext cx="2148840" cy="1151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452628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Sentinel briefing, ₹1.01 Cr exposure, KPI tiles. Drag the trend to zoom the desk.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91839" y="3611880"/>
            <a:ext cx="137160" cy="201168"/>
          </a:xfrm>
          <a:prstGeom prst="rightArrow">
            <a:avLst/>
          </a:prstGeom>
          <a:solidFill>
            <a:srgbClr val="2C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65576" y="1691640"/>
            <a:ext cx="2606040" cy="40690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83864" y="1691640"/>
            <a:ext cx="2569464" cy="45720"/>
          </a:xfrm>
          <a:prstGeom prst="rect">
            <a:avLst/>
          </a:prstGeom>
          <a:gradFill rotWithShape="1">
            <a:gsLst>
              <a:gs pos="0">
                <a:srgbClr val="FF7B80"/>
              </a:gs>
              <a:gs pos="100000">
                <a:srgbClr val="FF7B8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94176" y="1901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7B80"/>
                </a:solidFill>
                <a:latin typeface="Consolas"/>
              </a:rPr>
              <a:t>0:30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7176" y="196596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6B7890"/>
                </a:solidFill>
                <a:latin typeface="Consolas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22860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EF8"/>
                </a:solidFill>
                <a:latin typeface="Segoe UI"/>
              </a:rPr>
              <a:t>Explore the rings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71315" y="2720340"/>
            <a:ext cx="2194560" cy="1196884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04_rings.png"/>
          <p:cNvPicPr>
            <a:picLocks noChangeAspect="1"/>
          </p:cNvPicPr>
          <p:nvPr/>
        </p:nvPicPr>
        <p:blipFill>
          <a:blip r:embed="rId3"/>
          <a:srcRect b="10000"/>
          <a:stretch>
            <a:fillRect/>
          </a:stretch>
        </p:blipFill>
        <p:spPr>
          <a:xfrm>
            <a:off x="3694176" y="2743200"/>
            <a:ext cx="2148840" cy="1151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94176" y="452628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121 clusters, strongest first. Open CL001: 6 customers, 4 merchants, 8 chargebacks.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117336" y="3611880"/>
            <a:ext cx="137160" cy="201168"/>
          </a:xfrm>
          <a:prstGeom prst="rightArrow">
            <a:avLst/>
          </a:prstGeom>
          <a:solidFill>
            <a:srgbClr val="2C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91072" y="1691640"/>
            <a:ext cx="2606040" cy="40690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59" y="1691640"/>
            <a:ext cx="2569464" cy="45720"/>
          </a:xfrm>
          <a:prstGeom prst="rect">
            <a:avLst/>
          </a:prstGeom>
          <a:gradFill rotWithShape="1">
            <a:gsLst>
              <a:gs pos="0">
                <a:srgbClr val="F29A76"/>
              </a:gs>
              <a:gs pos="100000">
                <a:srgbClr val="F29A7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9672" y="1901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29A76"/>
                </a:solidFill>
                <a:latin typeface="Consolas"/>
              </a:rPr>
              <a:t>1:00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1" y="196596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6B7890"/>
                </a:solidFill>
                <a:latin typeface="Consolas"/>
              </a:rPr>
              <a:t>STEP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22860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EF8"/>
                </a:solidFill>
                <a:latin typeface="Segoe UI"/>
              </a:rPr>
              <a:t>Open Entity 360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3786" y="2720340"/>
            <a:ext cx="1560610" cy="1618488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07_entity360.png"/>
          <p:cNvPicPr>
            <a:picLocks noChangeAspect="1"/>
          </p:cNvPicPr>
          <p:nvPr/>
        </p:nvPicPr>
        <p:blipFill>
          <a:blip r:embed="rId4"/>
          <a:srcRect l="48400" b="10000"/>
          <a:stretch>
            <a:fillRect/>
          </a:stretch>
        </p:blipFill>
        <p:spPr>
          <a:xfrm>
            <a:off x="6836646" y="2743200"/>
            <a:ext cx="1514890" cy="15727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19672" y="452628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MCH3478 scores 80 — every point explained, with its timeline and ego network.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942832" y="3611880"/>
            <a:ext cx="137160" cy="201168"/>
          </a:xfrm>
          <a:prstGeom prst="rightArrow">
            <a:avLst/>
          </a:prstGeom>
          <a:solidFill>
            <a:srgbClr val="2C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16567" y="1691640"/>
            <a:ext cx="2606040" cy="406908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34855" y="1691640"/>
            <a:ext cx="2569464" cy="4572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7C83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45167" y="1901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7C83FF"/>
                </a:solidFill>
                <a:latin typeface="Consolas"/>
              </a:rPr>
              <a:t>1:30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88167" y="196596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6B7890"/>
                </a:solidFill>
                <a:latin typeface="Consolas"/>
              </a:rPr>
              <a:t>STEP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7" y="22860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EF8"/>
                </a:solidFill>
                <a:latin typeface="Segoe UI"/>
              </a:rPr>
              <a:t>Let the agents work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62769" y="2720340"/>
            <a:ext cx="1513636" cy="1618488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12_agents.png"/>
          <p:cNvPicPr>
            <a:picLocks noChangeAspect="1"/>
          </p:cNvPicPr>
          <p:nvPr/>
        </p:nvPicPr>
        <p:blipFill>
          <a:blip r:embed="rId5"/>
          <a:srcRect l="50000" b="10000"/>
          <a:stretch>
            <a:fillRect/>
          </a:stretch>
        </p:blipFill>
        <p:spPr>
          <a:xfrm>
            <a:off x="9685629" y="2743200"/>
            <a:ext cx="1467916" cy="15727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345167" y="452628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Ctrl J: "Investigate MCH9572 and file it as a case" — the agent runs tools and fills the case queue.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B7890"/>
                </a:solidFill>
                <a:latin typeface="Segoe UI"/>
              </a:rPr>
              <a:t>Fallbacks if the network is slow: the page is one self-contained file, the agents fall back to the local reasoning engine, and Ctrl K jumps to any view, id or ring instantly.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adityashukla2615.github.io/upi-risk-desk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OWNERSHIP AND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241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E8EEF8"/>
                </a:solidFill>
                <a:latin typeface="Segoe UI"/>
              </a:rPr>
              <a:t>Team </a:t>
            </a:r>
            <a:r>
              <a:rPr lang="en-IN" sz="2600" b="1" dirty="0" err="1">
                <a:solidFill>
                  <a:srgbClr val="E8EEF8"/>
                </a:solidFill>
                <a:latin typeface="Segoe UI"/>
              </a:rPr>
              <a:t>Loosers</a:t>
            </a:r>
            <a:endParaRPr sz="2600" b="1" dirty="0">
              <a:solidFill>
                <a:srgbClr val="E8EEF8"/>
              </a:solidFill>
              <a:latin typeface="Segoe UI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7665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6B7890"/>
                </a:solidFill>
                <a:latin typeface="Consola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3483864" cy="4572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7C83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2148840"/>
            <a:ext cx="457200" cy="457200"/>
          </a:xfrm>
          <a:prstGeom prst="ellipse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6712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70B14"/>
                </a:solidFill>
                <a:latin typeface="Segoe UI"/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305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EF8"/>
                </a:solidFill>
                <a:latin typeface="Segoe UI"/>
              </a:rPr>
              <a:t>Aditya Shukla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32304"/>
            <a:ext cx="24688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dirty="0">
                <a:solidFill>
                  <a:srgbClr val="7C83FF"/>
                </a:solidFill>
                <a:latin typeface="Consolas"/>
              </a:rPr>
              <a:t>TEAM LEADER</a:t>
            </a:r>
            <a:r>
              <a:rPr lang="en-IN" sz="950" b="1" dirty="0">
                <a:solidFill>
                  <a:srgbClr val="7C83FF"/>
                </a:solidFill>
                <a:latin typeface="Consolas"/>
              </a:rPr>
              <a:t> - 12408482</a:t>
            </a:r>
            <a:endParaRPr sz="950" b="1" dirty="0">
              <a:solidFill>
                <a:srgbClr val="7C83FF"/>
              </a:solidFill>
              <a:latin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2761488"/>
            <a:ext cx="3017520" cy="338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000" dirty="0">
                <a:solidFill>
                  <a:srgbClr val="A3AFC2"/>
                </a:solidFill>
                <a:latin typeface="Segoe UI"/>
              </a:rPr>
              <a:t>Agents, validation and storytelling</a:t>
            </a:r>
          </a:p>
          <a:p>
            <a:pPr algn="l">
              <a:lnSpc>
                <a:spcPct val="115000"/>
              </a:lnSpc>
            </a:pPr>
            <a:endParaRPr sz="1000" b="0" dirty="0">
              <a:solidFill>
                <a:srgbClr val="A3AFC2"/>
              </a:solidFill>
              <a:latin typeface="Segoe U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79976" y="18288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98264" y="1828800"/>
            <a:ext cx="3483864" cy="45720"/>
          </a:xfrm>
          <a:prstGeom prst="rect">
            <a:avLst/>
          </a:prstGeom>
          <a:gradFill rotWithShape="1">
            <a:gsLst>
              <a:gs pos="0">
                <a:srgbClr val="36D1DC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36008" y="2148840"/>
            <a:ext cx="457200" cy="457200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6008" y="216712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70B14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21305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EF8"/>
                </a:solidFill>
                <a:latin typeface="Segoe UI"/>
              </a:rPr>
              <a:t>Ishaan Sandhwar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43230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6D1DC"/>
                </a:solidFill>
                <a:latin typeface="Consolas"/>
              </a:rPr>
              <a:t>12416912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2761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Data engineering and the analytics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1" y="18288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59" y="1828800"/>
            <a:ext cx="3483864" cy="45720"/>
          </a:xfrm>
          <a:prstGeom prst="rect">
            <a:avLst/>
          </a:prstGeom>
          <a:gradFill rotWithShape="1">
            <a:gsLst>
              <a:gs pos="0">
                <a:srgbClr val="FF7B80"/>
              </a:gs>
              <a:gs pos="100000">
                <a:srgbClr val="FF7B8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75903" y="2148840"/>
            <a:ext cx="457200" cy="457200"/>
          </a:xfrm>
          <a:prstGeom prst="ellipse">
            <a:avLst/>
          </a:prstGeom>
          <a:solidFill>
            <a:srgbClr val="FF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75903" y="2167128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70B14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1" y="21305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EF8"/>
                </a:solidFill>
                <a:latin typeface="Segoe UI"/>
              </a:rPr>
              <a:t>Piyush Priyanshu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1" y="243230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7B80"/>
                </a:solidFill>
                <a:latin typeface="Consolas"/>
              </a:rPr>
              <a:t>12412878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3" y="2761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FC2"/>
                </a:solidFill>
                <a:latin typeface="Segoe UI"/>
              </a:rPr>
              <a:t>Graph intelligence and ring detection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40156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" y="3401568"/>
            <a:ext cx="3483864" cy="45720"/>
          </a:xfrm>
          <a:prstGeom prst="rect">
            <a:avLst/>
          </a:prstGeom>
          <a:gradFill rotWithShape="1">
            <a:gsLst>
              <a:gs pos="0">
                <a:srgbClr val="3987E5"/>
              </a:gs>
              <a:gs pos="100000">
                <a:srgbClr val="3987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6112" y="3721607"/>
            <a:ext cx="457200" cy="457200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3739895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70B14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370332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EF8"/>
                </a:solidFill>
                <a:latin typeface="Segoe UI"/>
              </a:rPr>
              <a:t>Deepak Kumar Behera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00507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987E5"/>
                </a:solidFill>
                <a:latin typeface="Consolas"/>
              </a:rPr>
              <a:t>12412575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334256"/>
            <a:ext cx="3017520" cy="161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>
                <a:solidFill>
                  <a:srgbClr val="A3AFC2"/>
                </a:solidFill>
                <a:latin typeface="Segoe UI"/>
              </a:rPr>
              <a:t>Command Center</a:t>
            </a:r>
            <a:r>
              <a:rPr lang="en-IN" sz="1000" b="0" dirty="0">
                <a:solidFill>
                  <a:srgbClr val="A3AFC2"/>
                </a:solidFill>
                <a:latin typeface="Segoe UI"/>
              </a:rPr>
              <a:t>, dashboards and visual analytics</a:t>
            </a:r>
            <a:endParaRPr sz="1000" b="0" dirty="0">
              <a:solidFill>
                <a:srgbClr val="A3AFC2"/>
              </a:solidFill>
              <a:latin typeface="Segoe UI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379976" y="340156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98264" y="3401568"/>
            <a:ext cx="3483864" cy="45720"/>
          </a:xfrm>
          <a:prstGeom prst="rect">
            <a:avLst/>
          </a:prstGeom>
          <a:gradFill rotWithShape="1">
            <a:gsLst>
              <a:gs pos="0">
                <a:srgbClr val="3ECF6E"/>
              </a:gs>
              <a:gs pos="100000">
                <a:srgbClr val="3ECF6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636008" y="3721607"/>
            <a:ext cx="457200" cy="457200"/>
          </a:xfrm>
          <a:prstGeom prst="ellipse">
            <a:avLst/>
          </a:prstGeom>
          <a:solidFill>
            <a:srgbClr val="3EC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36008" y="3739895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70B14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48656" y="370332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E8EEF8"/>
                </a:solidFill>
                <a:latin typeface="Segoe UI"/>
              </a:rPr>
              <a:t>Harsh Sharm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48656" y="400507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ECF6E"/>
                </a:solidFill>
                <a:latin typeface="Consolas"/>
              </a:rPr>
              <a:t>12412500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36008" y="4334256"/>
            <a:ext cx="3017520" cy="161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000" dirty="0">
                <a:solidFill>
                  <a:srgbClr val="A3AFC2"/>
                </a:solidFill>
                <a:latin typeface="Segoe UI"/>
              </a:rPr>
              <a:t>Risk analytics, metrics and delivery</a:t>
            </a:r>
            <a:endParaRPr sz="1000" b="0" dirty="0">
              <a:solidFill>
                <a:srgbClr val="A3AFC2"/>
              </a:solidFill>
              <a:latin typeface="Segoe UI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40080" y="5138928"/>
            <a:ext cx="10908792" cy="1097280"/>
          </a:xfrm>
          <a:prstGeom prst="roundRect">
            <a:avLst>
              <a:gd name="adj" fmla="val 6000"/>
            </a:avLst>
          </a:prstGeom>
          <a:solidFill>
            <a:srgbClr val="1A223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32180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6D1DC"/>
                </a:solidFill>
                <a:latin typeface="Segoe UI"/>
              </a:rPr>
              <a:t>What we built together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614416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3AFC2"/>
                </a:solidFill>
                <a:latin typeface="Segoe UI"/>
              </a:rPr>
              <a:t>A decision-ready risk desk: four broken files cleaned into one auditable model, explainable worklists for 234 merchants and 100 customers, 121 fraud rings, a leak-free replay engine, an honest detection check and five agents that can act on all of it.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890"/>
                </a:solidFill>
                <a:latin typeface="Consolas"/>
              </a:rPr>
              <a:t>TransOrg AgentIQ Datathon  ·  Track 1  ·  UPI Fraud Ring &amp; Merchant Analytics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6D1DC"/>
                </a:solidFill>
                <a:latin typeface="Consolas"/>
              </a:rPr>
              <a:t>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7665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8EEF8"/>
                </a:solidFill>
                <a:latin typeface="Segoe UI"/>
              </a:rPr>
              <a:t>Clean the identity.
Connect the network.
Explain every flag.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114800"/>
            <a:ext cx="2011680" cy="54864"/>
          </a:xfrm>
          <a:prstGeom prst="rect">
            <a:avLst/>
          </a:prstGeom>
          <a:gradFill rotWithShape="1">
            <a:gsLst>
              <a:gs pos="0">
                <a:srgbClr val="7C83FF"/>
              </a:gs>
              <a:gs pos="100000">
                <a:srgbClr val="36D1DC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43484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A3AFC2"/>
                </a:solidFill>
                <a:latin typeface="Segoe UI"/>
              </a:rPr>
              <a:t>UPI Risk Desk turns 20,000 messy payments into an investigation queue a risk team can work — and is honest about what it cannot predict yet.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234440"/>
            <a:ext cx="3913632" cy="4160520"/>
          </a:xfrm>
          <a:prstGeom prst="roundRect">
            <a:avLst>
              <a:gd name="adj" fmla="val 6000"/>
            </a:avLst>
          </a:prstGeom>
          <a:solidFill>
            <a:srgbClr val="101624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155448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6D1DC"/>
                </a:solidFill>
                <a:latin typeface="Consolas"/>
              </a:rPr>
              <a:t>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81051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E8EEF8"/>
                </a:solidFill>
                <a:latin typeface="Segoe UI"/>
              </a:rPr>
              <a:t>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212848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3AFC2"/>
                </a:solidFill>
                <a:latin typeface="Segoe UI"/>
              </a:rPr>
              <a:t>9 views · 5 agents · no server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55279" y="2697480"/>
            <a:ext cx="3273553" cy="0"/>
          </a:xfrm>
          <a:prstGeom prst="line">
            <a:avLst/>
          </a:prstGeom>
          <a:ln w="1270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55279" y="2880360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6B7890"/>
                </a:solidFill>
                <a:latin typeface="Consolas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10896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7C83FF"/>
                </a:solidFill>
                <a:latin typeface="Consolas"/>
              </a:rPr>
              <a:t>adityashukla2615.github.io/upi-risk-desk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703320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6B7890"/>
                </a:solidFill>
                <a:latin typeface="Consolas"/>
              </a:rPr>
              <a:t>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9319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7C83FF"/>
                </a:solidFill>
                <a:latin typeface="Consolas"/>
              </a:rPr>
              <a:t>github.com/adityashukla2615/upi-risk-desk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526280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6B7890"/>
                </a:solidFill>
                <a:latin typeface="Consolas"/>
              </a:rPr>
              <a:t>RUN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548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A3AFC2"/>
                </a:solidFill>
                <a:latin typeface="Consolas"/>
              </a:rPr>
              <a:t>py src/clean.py
py src/analytics.py
py src/build_dashboard.py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6D1DC"/>
                </a:solidFill>
                <a:latin typeface="Segoe U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2996</Words>
  <Application>Microsoft Office PowerPoint</Application>
  <PresentationFormat>Widescreen</PresentationFormat>
  <Paragraphs>420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Ishaan Sandhwar</cp:lastModifiedBy>
  <cp:revision>5</cp:revision>
  <dcterms:created xsi:type="dcterms:W3CDTF">2013-01-27T09:14:16Z</dcterms:created>
  <dcterms:modified xsi:type="dcterms:W3CDTF">2026-09-18T04:53:55Z</dcterms:modified>
  <cp:category/>
</cp:coreProperties>
</file>