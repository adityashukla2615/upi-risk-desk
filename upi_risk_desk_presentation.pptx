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2440" y="128016"/>
            <a:ext cx="4096512" cy="6729984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32520" y="685800"/>
            <a:ext cx="2606040" cy="5440680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89720" y="1280160"/>
            <a:ext cx="292608" cy="292608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76688" y="1920240"/>
            <a:ext cx="201168" cy="201168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64040" y="2743200"/>
            <a:ext cx="420624" cy="420624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61320" y="3246120"/>
            <a:ext cx="274320" cy="274320"/>
          </a:xfrm>
          <a:prstGeom prst="ellipse">
            <a:avLst/>
          </a:prstGeom>
          <a:solidFill>
            <a:srgbClr val="2C9D62"/>
          </a:solidFill>
          <a:ln>
            <a:solidFill>
              <a:srgbClr val="2C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30384" y="4206240"/>
            <a:ext cx="219456" cy="219456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44200" y="4892040"/>
            <a:ext cx="411480" cy="411480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9326880" y="1508760"/>
            <a:ext cx="868680" cy="502920"/>
          </a:xfrm>
          <a:prstGeom prst="line">
            <a:avLst/>
          </a:prstGeom>
          <a:ln w="25400">
            <a:solidFill>
              <a:srgbClr val="33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674352" y="2011680"/>
            <a:ext cx="521208" cy="960120"/>
          </a:xfrm>
          <a:prstGeom prst="line">
            <a:avLst/>
          </a:prstGeom>
          <a:ln w="25400">
            <a:solidFill>
              <a:srgbClr val="F38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74352" y="2971800"/>
            <a:ext cx="1024128" cy="411480"/>
          </a:xfrm>
          <a:prstGeom prst="line">
            <a:avLst/>
          </a:prstGeom>
          <a:ln w="25400">
            <a:solidFill>
              <a:srgbClr val="D749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74352" y="2971800"/>
            <a:ext cx="365760" cy="1325880"/>
          </a:xfrm>
          <a:prstGeom prst="line">
            <a:avLst/>
          </a:prstGeom>
          <a:ln w="25400">
            <a:solidFill>
              <a:srgbClr val="2C9D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40112" y="4297680"/>
            <a:ext cx="886968" cy="777240"/>
          </a:xfrm>
          <a:prstGeom prst="line">
            <a:avLst/>
          </a:prstGeom>
          <a:ln w="25400">
            <a:solidFill>
              <a:srgbClr val="33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1097280"/>
            <a:ext cx="6583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UPI
RISK 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3BECC"/>
                </a:solidFill>
                <a:latin typeface="Aptos"/>
              </a:rPr>
              <a:t>Fraud ring detection and merchant risk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01568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FE6"/>
                </a:solidFill>
                <a:latin typeface="Aptos"/>
              </a:rPr>
              <a:t>An end-to-end risk intelligence platform for messy payments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63440"/>
            <a:ext cx="5852160" cy="658368"/>
          </a:xfrm>
          <a:prstGeom prst="roundRect">
            <a:avLst>
              <a:gd name="adj" fmla="val 8000"/>
            </a:avLst>
          </a:prstGeom>
          <a:solidFill>
            <a:srgbClr val="1B3044"/>
          </a:solidFill>
          <a:ln>
            <a:solidFill>
              <a:srgbClr val="1B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873752"/>
            <a:ext cx="5394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TEAM OF 5  |  TRANSORG AGENTIQ DATATHON  |  TRACK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778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BECC"/>
                </a:solidFill>
                <a:latin typeface="Aptos"/>
              </a:rPr>
              <a:t>Team leader: Aditya Shukla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1C6CF"/>
                </a:solidFill>
                <a:latin typeface="Aptos"/>
              </a:rPr>
              <a:t>Data window: 1 Jan - 31 Mar 2026  /  90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THE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From messy payments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9164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92B"/>
                </a:solidFill>
                <a:latin typeface="Aptos"/>
              </a:rPr>
              <a:t>Fraud operations need more than a yes/no transaction label.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68296"/>
            <a:ext cx="6126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B6C7C"/>
                </a:solidFill>
                <a:latin typeface="Aptos"/>
              </a:rPr>
              <a:t>The desk connects identity, transactions, merchants and disputes to answer the questions a risk team actually asks.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154680"/>
            <a:ext cx="411480" cy="411480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172968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21868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332"/>
                </a:solidFill>
                <a:latin typeface="Aptos"/>
              </a:rPr>
              <a:t>Why is this merchant risky?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977640"/>
            <a:ext cx="411480" cy="411480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995928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04164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332"/>
                </a:solidFill>
                <a:latin typeface="Aptos"/>
              </a:rPr>
              <a:t>Which users and merchants form rings?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800600"/>
            <a:ext cx="411480" cy="41148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818888"/>
            <a:ext cx="411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86460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2332"/>
                </a:solidFill>
                <a:latin typeface="Aptos"/>
              </a:rPr>
              <a:t>Where are the biggest control gaps?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810512"/>
            <a:ext cx="3931920" cy="3840480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54112" y="219456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BECC"/>
                </a:solidFill>
                <a:latin typeface="Aptos"/>
              </a:rPr>
              <a:t>PROJECT NORTH 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1252" y="2450592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Make every risk flag explainable, traceable and actionable.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54112" y="4041648"/>
            <a:ext cx="3099816" cy="0"/>
          </a:xfrm>
          <a:prstGeom prst="line">
            <a:avLst/>
          </a:prstGeom>
          <a:ln w="12700">
            <a:solidFill>
              <a:srgbClr val="395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54112" y="437083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5BEC9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4681728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 clean analytics model + risk worklists + interactive dashboard + graph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UPI Risk Desk project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Why our solution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45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C7C"/>
                </a:solidFill>
                <a:latin typeface="Aptos"/>
              </a:rPr>
              <a:t>Most fraud demos stop at a model score. We built what an investigator can actually use on Monday morning.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82296" cy="1828800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2404872"/>
            <a:ext cx="457200" cy="457200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4505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92B"/>
                </a:solidFill>
                <a:latin typeface="Aptos"/>
              </a:rPr>
              <a:t>Explainable risk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97180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2332"/>
                </a:solidFill>
                <a:latin typeface="Aptos"/>
              </a:rPr>
              <a:t>Additive scores, not a black box. Every flag lists the exact signals that fired: repeat disputes, chargeback ratio &gt; 30%, fraud-type reasons, missing settlement account.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630168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D7494A"/>
                </a:solidFill>
                <a:latin typeface="Aptos"/>
              </a:rPr>
              <a:t>SCORE 80 = 5 NAMED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148840"/>
            <a:ext cx="82296" cy="1828800"/>
          </a:xfrm>
          <a:prstGeom prst="rect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6520" y="2404872"/>
            <a:ext cx="457200" cy="457200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4505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92B"/>
                </a:solidFill>
                <a:latin typeface="Aptos"/>
              </a:rPr>
              <a:t>Fraud-ring graph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97180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2332"/>
                </a:solidFill>
                <a:latin typeface="Aptos"/>
              </a:rPr>
              <a:t>72K-node / 106K-edge property graph links users, payments, merchants and chargebacks, so connected rings surface instead of isolated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630168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38B30"/>
                </a:solidFill>
                <a:latin typeface="Aptos"/>
              </a:rPr>
              <a:t>121 SUSPICIOUS CLUSTERS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0624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206240"/>
            <a:ext cx="82296" cy="182880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" y="4462272"/>
            <a:ext cx="457200" cy="45720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480559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507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92B"/>
                </a:solidFill>
                <a:latin typeface="Aptos"/>
              </a:rPr>
              <a:t>Data-quality correction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02920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2332"/>
                </a:solidFill>
                <a:latin typeface="Aptos"/>
              </a:rPr>
              <a:t>70 logged checks repair IDs, PAN / Aadhaar formats, dates and duplicates before any metric is computed, and every repair is traceable.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5687568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9488"/>
                </a:solidFill>
                <a:latin typeface="Aptos"/>
              </a:rPr>
              <a:t>400 DUPLICATES REMOVED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20624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4206240"/>
            <a:ext cx="82296" cy="1828800"/>
          </a:xfrm>
          <a:prstGeom prst="rect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46520" y="4462272"/>
            <a:ext cx="457200" cy="457200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480559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4507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92B"/>
                </a:solidFill>
                <a:latin typeface="Aptos"/>
              </a:rPr>
              <a:t>Business-ready worklists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502920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2332"/>
                </a:solidFill>
                <a:latin typeface="Aptos"/>
              </a:rPr>
              <a:t>Ranked, filterable, exportable queues of merchants, users and rings, plus a graph agent that answers analyst questions in plain English.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5687568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3BECC"/>
                </a:solidFill>
                <a:latin typeface="Aptos"/>
              </a:rPr>
              <a:t>234 MERCHANTS TO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src/analytics.py, src/agent.py, src/clean.py, outputs/data_quality_report.csv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Before -&gt; after: raw files become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572768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7494A"/>
                </a:solidFill>
                <a:latin typeface="Aptos"/>
              </a:rPr>
              <a:t>BEFORE: 4 RAW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788920" cy="841248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73152" cy="841248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02536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92B"/>
                </a:solidFill>
                <a:latin typeface="Consolas"/>
              </a:rPr>
              <a:t>track1_upi_transactions.csv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20,400 rows incl. duplicates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2788920" cy="841248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898648"/>
            <a:ext cx="73152" cy="841248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026664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92B"/>
                </a:solidFill>
                <a:latin typeface="Consolas"/>
              </a:rPr>
              <a:t>track1_kyc_records.csv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Mixed ID / PAN / Aadhaar formats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22776"/>
            <a:ext cx="2788920" cy="841248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922776"/>
            <a:ext cx="73152" cy="841248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050791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92B"/>
                </a:solidFill>
                <a:latin typeface="Consolas"/>
              </a:rPr>
              <a:t>track1_merchants_master.csv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79976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Missing accounts, bad statuses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46904"/>
            <a:ext cx="2788920" cy="841248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946904"/>
            <a:ext cx="73152" cy="841248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07492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B192B"/>
                </a:solidFill>
                <a:latin typeface="Consolas"/>
              </a:rPr>
              <a:t>track1_chargebacks.json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404104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IDs disagree with payments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1880" y="3520440"/>
            <a:ext cx="502920" cy="411480"/>
          </a:xfrm>
          <a:prstGeom prst="rightArrow">
            <a:avLst/>
          </a:prstGeom>
          <a:solidFill>
            <a:srgbClr val="5B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1960" y="157276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488"/>
                </a:solidFill>
                <a:latin typeface="Aptos"/>
              </a:rPr>
              <a:t>PIPELINE (PYTHON)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1874519"/>
            <a:ext cx="3291840" cy="841248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62272" y="19933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488"/>
                </a:solidFill>
                <a:latin typeface="Aptos"/>
              </a:rPr>
              <a:t>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1993391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src/clean.py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33172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FE6"/>
                </a:solidFill>
                <a:latin typeface="Aptos"/>
              </a:rPr>
              <a:t>standardize + de-duplicate + 70 checks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97880" y="2715768"/>
            <a:ext cx="0" cy="182880"/>
          </a:xfrm>
          <a:prstGeom prst="line">
            <a:avLst/>
          </a:prstGeom>
          <a:ln w="25400">
            <a:solidFill>
              <a:srgbClr val="00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51960" y="2898648"/>
            <a:ext cx="3291840" cy="841248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62272" y="30175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BECC"/>
                </a:solidFill>
                <a:latin typeface="Aptos"/>
              </a:rPr>
              <a:t>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01752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SQLite star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335584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FE6"/>
                </a:solidFill>
                <a:latin typeface="Aptos"/>
              </a:rPr>
              <a:t>dim_users / dim_merchants / facts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80" y="3739896"/>
            <a:ext cx="0" cy="182880"/>
          </a:xfrm>
          <a:prstGeom prst="line">
            <a:avLst/>
          </a:prstGeom>
          <a:ln w="25400">
            <a:solidFill>
              <a:srgbClr val="00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51960" y="3922776"/>
            <a:ext cx="3291840" cy="841248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62272" y="404164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38B30"/>
                </a:solidFill>
                <a:latin typeface="Aptos"/>
              </a:rPr>
              <a:t>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041648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src/analytics.py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4379976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FE6"/>
                </a:solidFill>
                <a:latin typeface="Aptos"/>
              </a:rPr>
              <a:t>explainable merchant + user scores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897880" y="4764024"/>
            <a:ext cx="0" cy="182880"/>
          </a:xfrm>
          <a:prstGeom prst="line">
            <a:avLst/>
          </a:prstGeom>
          <a:ln w="25400">
            <a:solidFill>
              <a:srgbClr val="00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251960" y="4946904"/>
            <a:ext cx="3291840" cy="841248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62272" y="50657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7494A"/>
                </a:solidFill>
                <a:latin typeface="Aptos"/>
              </a:rPr>
              <a:t>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506577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nsolas"/>
              </a:rPr>
              <a:t>NetworkX + src/cycles.py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5404104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DDFE6"/>
                </a:solidFill>
                <a:latin typeface="Aptos"/>
              </a:rPr>
              <a:t>clusters, rings, circular loops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680960" y="3520440"/>
            <a:ext cx="502920" cy="411480"/>
          </a:xfrm>
          <a:prstGeom prst="rightArrow">
            <a:avLst/>
          </a:prstGeom>
          <a:solidFill>
            <a:srgbClr val="00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157276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9D62"/>
                </a:solidFill>
                <a:latin typeface="Aptos"/>
              </a:rPr>
              <a:t>AFTER: DECISION OUTPUTS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1874519"/>
            <a:ext cx="3246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040" y="1874519"/>
            <a:ext cx="73152" cy="841248"/>
          </a:xfrm>
          <a:prstGeom prst="rect">
            <a:avLst/>
          </a:prstGeom>
          <a:solidFill>
            <a:srgbClr val="2C9D62"/>
          </a:solidFill>
          <a:ln>
            <a:solidFill>
              <a:srgbClr val="2C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31352" y="2002536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Interactive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1352" y="23317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outputs/upi_risk_desk.html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2898648"/>
            <a:ext cx="3246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321040" y="2898648"/>
            <a:ext cx="73152" cy="841248"/>
          </a:xfrm>
          <a:prstGeom prst="rect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31352" y="3026664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Risk worklists (CSV)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1352" y="33558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merchant / user scores, clusters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922776"/>
            <a:ext cx="3246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21040" y="3922776"/>
            <a:ext cx="73152" cy="841248"/>
          </a:xfrm>
          <a:prstGeom prst="rect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31352" y="4050791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Graph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1352" y="4379976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plain-English graph queries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0" y="4946904"/>
            <a:ext cx="3246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21040" y="4946904"/>
            <a:ext cx="73152" cy="84124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31352" y="50749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Data-quality ledger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1352" y="5404104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C7C"/>
                </a:solidFill>
                <a:latin typeface="Aptos"/>
              </a:rPr>
              <a:t>every repair, traceable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5961888"/>
            <a:ext cx="10881360" cy="347472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8680" y="6025896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B192B"/>
                </a:solidFill>
                <a:latin typeface="Aptos"/>
              </a:rPr>
              <a:t>Stack: Python  /  pandas  /  SQLite  /  NetworkX  /  Chart.js single-file dashboard  /  GitHub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Four messy sources, one analytics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0020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C7C"/>
                </a:solidFill>
                <a:latin typeface="Aptos"/>
              </a:rPr>
              <a:t>We repaired inconsistent IDs, amounts, dates, statuses and links before measuring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402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2240280"/>
            <a:ext cx="82296" cy="96012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368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488"/>
                </a:solidFill>
                <a:latin typeface="Aptos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0604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20,000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1693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C7C"/>
                </a:solidFill>
                <a:latin typeface="Aptos"/>
              </a:rPr>
              <a:t>After removing 400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2402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2152" y="2240280"/>
            <a:ext cx="82296" cy="960120"/>
          </a:xfrm>
          <a:prstGeom prst="rect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2368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BECC"/>
                </a:solidFill>
                <a:latin typeface="Aptos"/>
              </a:rPr>
              <a:t>KYC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60604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28,920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91693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C7C"/>
                </a:solidFill>
                <a:latin typeface="Aptos"/>
              </a:rPr>
              <a:t>Identity, status, risk segment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832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383280"/>
            <a:ext cx="82296" cy="960120"/>
          </a:xfrm>
          <a:prstGeom prst="rect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3511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38B30"/>
                </a:solidFill>
                <a:latin typeface="Aptos"/>
              </a:rPr>
              <a:t>MERCHANT MASTER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74904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4,343 merchants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05993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C7C"/>
                </a:solidFill>
                <a:latin typeface="Aptos"/>
              </a:rPr>
              <a:t>Category, status, settlement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2152" y="33832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02152" y="3383280"/>
            <a:ext cx="82296" cy="960120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30752" y="3511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7494A"/>
                </a:solidFill>
                <a:latin typeface="Aptos"/>
              </a:rPr>
              <a:t>CHARGEBACKS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374904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2,800 complaints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405993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C7C"/>
                </a:solidFill>
                <a:latin typeface="Aptos"/>
              </a:rPr>
              <a:t>Reason, severity, resolution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66344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7494A"/>
                </a:solidFill>
                <a:latin typeface="Aptos"/>
              </a:rPr>
              <a:t>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919472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332"/>
                </a:solidFill>
                <a:latin typeface="Aptos"/>
              </a:rPr>
              <a:t>duplicate payments removed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8B30"/>
                </a:solidFill>
                <a:latin typeface="Aptos"/>
              </a:rPr>
              <a:t>INR 51.9 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39496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332"/>
                </a:solidFill>
                <a:latin typeface="Aptos"/>
              </a:rPr>
              <a:t>volume inflation avoided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7648" y="1572768"/>
            <a:ext cx="5266944" cy="3049741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06_data_qualit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5080" y="1600200"/>
            <a:ext cx="5212080" cy="299487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Screenshot: Data quality ledger in the live dashboard  /  outputs/data_quality_report.csv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DASHBOARD  /  REAL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The live dashboard: the quarter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39926" y="1572768"/>
            <a:ext cx="6572707" cy="4581144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_kpi_dashboard.png"/>
          <p:cNvPicPr>
            <a:picLocks noChangeAspect="1"/>
          </p:cNvPicPr>
          <p:nvPr/>
        </p:nvPicPr>
        <p:blipFill>
          <a:blip r:embed="rId2"/>
          <a:srcRect l="9500" r="9500"/>
          <a:stretch>
            <a:fillRect/>
          </a:stretch>
        </p:blipFill>
        <p:spPr>
          <a:xfrm>
            <a:off x="1267358" y="1600200"/>
            <a:ext cx="6517843" cy="45262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732520" y="1691640"/>
            <a:ext cx="347472" cy="347472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20" y="1709928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8" y="167335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10 cross-filters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1947672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C7C"/>
                </a:solidFill>
                <a:latin typeface="Aptos"/>
              </a:rPr>
              <a:t>Period, category, status, KYC, segment, UTR, reason, amount, ID lookup.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0" y="2743200"/>
            <a:ext cx="347472" cy="347472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2761488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8" y="272491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8 headline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999232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C7C"/>
                </a:solidFill>
                <a:latin typeface="Aptos"/>
              </a:rPr>
              <a:t>INR 24.98 Cr value, 12.3% chargeback ratio, 8.0-day avg reporting delay.</a:t>
            </a:r>
          </a:p>
        </p:txBody>
      </p:sp>
      <p:sp>
        <p:nvSpPr>
          <p:cNvPr id="17" name="Oval 16"/>
          <p:cNvSpPr/>
          <p:nvPr/>
        </p:nvSpPr>
        <p:spPr>
          <a:xfrm>
            <a:off x="8732520" y="3794760"/>
            <a:ext cx="347472" cy="347472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2520" y="3813048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377647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Findings, auto-written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4050792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C7C"/>
                </a:solidFill>
                <a:latin typeface="Aptos"/>
              </a:rPr>
              <a:t>Critical / watch / info cards the risk team should act on.</a:t>
            </a:r>
          </a:p>
        </p:txBody>
      </p:sp>
      <p:sp>
        <p:nvSpPr>
          <p:cNvPr id="21" name="Oval 20"/>
          <p:cNvSpPr/>
          <p:nvPr/>
        </p:nvSpPr>
        <p:spPr>
          <a:xfrm>
            <a:off x="8732520" y="4846320"/>
            <a:ext cx="347472" cy="347472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4864607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482803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92B"/>
                </a:solidFill>
                <a:latin typeface="Aptos"/>
              </a:rPr>
              <a:t>Shareable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5102352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C7C"/>
                </a:solidFill>
                <a:latin typeface="Aptos"/>
              </a:rPr>
              <a:t>Every filter state is a copyable link for handoffs.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Live: adityashukla2615.github.io/upi-risk-desk/outputs/upi_risk_desk.html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RISK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Three findings that should change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82880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121408"/>
            <a:ext cx="384048" cy="384048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157984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Identity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D7494A"/>
                </a:solidFill>
                <a:latin typeface="Aptos"/>
              </a:rPr>
              <a:t>67.6%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332"/>
                </a:solidFill>
                <a:latin typeface="Aptos"/>
              </a:rPr>
              <a:t>of payments came from users with no KYC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C7C"/>
                </a:solidFill>
                <a:latin typeface="Aptos"/>
              </a:rPr>
              <a:t>Risk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C"/>
                </a:solidFill>
                <a:latin typeface="Aptos"/>
              </a:rPr>
              <a:t>Step-up identity checks before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82880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54879" y="2121408"/>
            <a:ext cx="384048" cy="384048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79" y="2139696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1" y="2157984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Rejected KYC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7889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38B30"/>
                </a:solidFill>
                <a:latin typeface="Aptos"/>
              </a:rPr>
              <a:t>15.0%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49300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332"/>
                </a:solidFill>
                <a:latin typeface="Aptos"/>
              </a:rPr>
              <a:t>dispute rate, higher than verified users at 13.2%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34340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C7C"/>
                </a:solidFill>
                <a:latin typeface="Aptos"/>
              </a:rPr>
              <a:t>Risk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572000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C"/>
                </a:solidFill>
                <a:latin typeface="Aptos"/>
              </a:rPr>
              <a:t>Rejected KYC should block or step up payments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03920" y="2121408"/>
            <a:ext cx="384048" cy="384048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2139696"/>
            <a:ext cx="384048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57984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Late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889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009488"/>
                </a:solidFill>
                <a:latin typeface="Aptos"/>
              </a:rPr>
              <a:t>666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9300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2332"/>
                </a:solidFill>
                <a:latin typeface="Aptos"/>
              </a:rPr>
              <a:t>disputes were reported more than 7 days after payment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34340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C7C"/>
                </a:solidFill>
                <a:latin typeface="Aptos"/>
              </a:rPr>
              <a:t>Risk implication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572000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C"/>
                </a:solidFill>
                <a:latin typeface="Aptos"/>
              </a:rPr>
              <a:t>Prioritize delayed fraud complaints for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UPI Risk Desk project outputs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EXPLAINABLE MERCHANT RISK  /  REAL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234 high-risk merchants, each with its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1527048"/>
            <a:ext cx="5449824" cy="3895561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_high_risk_merchants.png"/>
          <p:cNvPicPr>
            <a:picLocks noChangeAspect="1"/>
          </p:cNvPicPr>
          <p:nvPr/>
        </p:nvPicPr>
        <p:blipFill>
          <a:blip r:embed="rId2"/>
          <a:srcRect b="22000"/>
          <a:stretch>
            <a:fillRect/>
          </a:stretch>
        </p:blipFill>
        <p:spPr>
          <a:xfrm>
            <a:off x="594360" y="1554480"/>
            <a:ext cx="5394960" cy="3840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4592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73152" cy="1051560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801368"/>
            <a:ext cx="2148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192B"/>
                </a:solidFill>
                <a:latin typeface="Aptos"/>
              </a:rPr>
              <a:t>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24942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"/>
              </a:rPr>
              <a:t>HIGH-RISK MERCHANTS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78024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Score &gt;=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52560" y="1645920"/>
            <a:ext cx="73152" cy="1051560"/>
          </a:xfrm>
          <a:prstGeom prst="rect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8" y="1801368"/>
            <a:ext cx="21945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192B"/>
                </a:solidFill>
                <a:latin typeface="Apto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24942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"/>
              </a:rPr>
              <a:t>HIGH-RISK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247802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184 repeat disputers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488"/>
                </a:solidFill>
                <a:latin typeface="Aptos"/>
              </a:rPr>
              <a:t>HOW THE SCORE IS BUILT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364992"/>
            <a:ext cx="109728" cy="109728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29184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62332"/>
                </a:solidFill>
                <a:latin typeface="Aptos"/>
              </a:rPr>
              <a:t>Repeated disputes and a chargeback ratio above 30%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803904"/>
            <a:ext cx="109728" cy="109728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3730752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62332"/>
                </a:solidFill>
                <a:latin typeface="Aptos"/>
              </a:rPr>
              <a:t>Fraud-type reasons and top-decile disputed amount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4242816"/>
            <a:ext cx="109728" cy="109728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4169664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62332"/>
                </a:solidFill>
                <a:latin typeface="Aptos"/>
              </a:rPr>
              <a:t>Transacting while inactive or missing settlement account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681728"/>
            <a:ext cx="109728" cy="109728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460857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62332"/>
                </a:solidFill>
                <a:latin typeface="Aptos"/>
              </a:rPr>
              <a:t>Not in the merchant master (never onboarded)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1663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530352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Filter tier = High  -&gt;  234 rows, each tagged with the signals that fired. Export CSV = investigator worklist.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outputs/risk/merchant_risk_scores.csv  /  dashboard Merchant risk 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GRAPH DETECTION  /  REAL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Fraud rings: connected cases, not isolated disputes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1527048"/>
            <a:ext cx="7918704" cy="4478274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ring_detai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1554480"/>
            <a:ext cx="7863840" cy="44234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60020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32520" y="1600200"/>
            <a:ext cx="73152" cy="105156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1755648"/>
            <a:ext cx="25146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192B"/>
                </a:solidFill>
                <a:latin typeface="Aptos"/>
              </a:rPr>
              <a:t>121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2203704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"/>
              </a:rPr>
              <a:t>SUSPICIOUS 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2432304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Components of &gt;= 4 members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78892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32520" y="2788920"/>
            <a:ext cx="73152" cy="1051560"/>
          </a:xfrm>
          <a:prstGeom prst="rect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2944368"/>
            <a:ext cx="25146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192B"/>
                </a:solidFill>
                <a:latin typeface="Aptos"/>
              </a:rPr>
              <a:t>72K / 106K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3392424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"/>
              </a:rPr>
              <a:t>GRAPH NODES /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3621024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Users, payments, merchants, CBs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069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7494A"/>
                </a:solidFill>
                <a:latin typeface="Aptos"/>
              </a:rPr>
              <a:t>RING CL001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34340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62332"/>
                </a:solidFill>
                <a:latin typeface="Aptos"/>
              </a:rPr>
              <a:t>6 users -&gt; 4 merchants via 9 payments. 8 chargebacks (4 fraud-type), 4 unverified users, hub merchant MCH1366.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outputs/risk/suspicious_clusters.csv  /  dashboard Suspicious clusters drawer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GRAPH AGENT  / 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Ask the graph agent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1572768"/>
            <a:ext cx="7461504" cy="2734721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5_graph_ag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1600200"/>
            <a:ext cx="7406640" cy="26798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66760" y="164592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488"/>
                </a:solidFill>
                <a:latin typeface="Aptos"/>
              </a:rPr>
              <a:t>HOW IT WORKS</a:t>
            </a:r>
          </a:p>
        </p:txBody>
      </p:sp>
      <p:sp>
        <p:nvSpPr>
          <p:cNvPr id="10" name="Oval 9"/>
          <p:cNvSpPr/>
          <p:nvPr/>
        </p:nvSpPr>
        <p:spPr>
          <a:xfrm>
            <a:off x="8366760" y="2039112"/>
            <a:ext cx="109728" cy="109728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96596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Loads the clean star schema as a NetworkX property graph</a:t>
            </a:r>
          </a:p>
        </p:txBody>
      </p:sp>
      <p:sp>
        <p:nvSpPr>
          <p:cNvPr id="12" name="Oval 11"/>
          <p:cNvSpPr/>
          <p:nvPr/>
        </p:nvSpPr>
        <p:spPr>
          <a:xfrm>
            <a:off x="8366760" y="2606040"/>
            <a:ext cx="109728" cy="109728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253288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Intent router maps a question to a graph traversal</a:t>
            </a:r>
          </a:p>
        </p:txBody>
      </p:sp>
      <p:sp>
        <p:nvSpPr>
          <p:cNvPr id="14" name="Oval 13"/>
          <p:cNvSpPr/>
          <p:nvPr/>
        </p:nvSpPr>
        <p:spPr>
          <a:xfrm>
            <a:off x="8366760" y="3172968"/>
            <a:ext cx="109728" cy="109728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3099815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Answers entity + aggregate questions from one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0" y="3739896"/>
            <a:ext cx="109728" cy="109728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366674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Router is swappable for an LLM, query layer 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488"/>
                </a:solidFill>
                <a:latin typeface="Aptos"/>
              </a:rPr>
              <a:t>OTHER QUESTIONS IT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5257800" cy="420624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166359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92B"/>
                </a:solidFill>
                <a:latin typeface="Aptos"/>
              </a:rPr>
              <a:t>"Which merchant has the highest chargeback-to-transaction ratio?"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074920"/>
            <a:ext cx="5257800" cy="420624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5166359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92B"/>
                </a:solidFill>
                <a:latin typeface="Aptos"/>
              </a:rPr>
              <a:t>"Show disputes reported after 7 days."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23559"/>
            <a:ext cx="5257800" cy="420624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714999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92B"/>
                </a:solidFill>
                <a:latin typeface="Aptos"/>
              </a:rPr>
              <a:t>"Tell me about MCH9572."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623559"/>
            <a:ext cx="5257800" cy="420624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5714999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92B"/>
                </a:solidFill>
                <a:latin typeface="Aptos"/>
              </a:rPr>
              <a:t>"Which KYC status has the highest transaction amount?"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Run: py src/agent.py --ask "..."  /  14 example queries in outputs/agent_demo.md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2-minute 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64592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2606040" cy="82296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87451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488"/>
                </a:solidFill>
                <a:latin typeface="Aptos"/>
              </a:rPr>
              <a:t>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3852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C7C"/>
                </a:solidFill>
                <a:latin typeface="Apto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8600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Show KPI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898648"/>
            <a:ext cx="2295144" cy="1315021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1_kpi_dashboar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7240" y="2926080"/>
            <a:ext cx="2240280" cy="12601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5528" y="4526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332"/>
                </a:solidFill>
                <a:latin typeface="Aptos"/>
              </a:rPr>
              <a:t>Open the live page. Point at INR 24.98 Cr, 12.3% chargeback ratio, and the auto-written findings.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27832" y="3520440"/>
            <a:ext cx="164592" cy="274320"/>
          </a:xfrm>
          <a:prstGeom prst="rightArrow">
            <a:avLst/>
          </a:prstGeom>
          <a:solidFill>
            <a:srgbClr val="D8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10712" y="164592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10712" y="1645920"/>
            <a:ext cx="2606040" cy="82296"/>
          </a:xfrm>
          <a:prstGeom prst="rect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187451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38B30"/>
                </a:solidFill>
                <a:latin typeface="Aptos"/>
              </a:rPr>
              <a:t>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193852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C7C"/>
                </a:solidFill>
                <a:latin typeface="Aptos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28600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Filter high-risk merchants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617" y="2898648"/>
            <a:ext cx="2294229" cy="1499616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02_high_risk_merchants.png"/>
          <p:cNvPicPr>
            <a:picLocks noChangeAspect="1"/>
          </p:cNvPicPr>
          <p:nvPr/>
        </p:nvPicPr>
        <p:blipFill>
          <a:blip r:embed="rId3"/>
          <a:srcRect b="29313"/>
          <a:stretch>
            <a:fillRect/>
          </a:stretch>
        </p:blipFill>
        <p:spPr>
          <a:xfrm>
            <a:off x="3594049" y="2926080"/>
            <a:ext cx="2239365" cy="14447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11880" y="4526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332"/>
                </a:solidFill>
                <a:latin typeface="Aptos"/>
              </a:rPr>
              <a:t>Merchant risk -&gt; hide Medium/Low tiers, set table tier = High. 234 merchants with reasons.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44183" y="3520440"/>
            <a:ext cx="164592" cy="274320"/>
          </a:xfrm>
          <a:prstGeom prst="rightArrow">
            <a:avLst/>
          </a:prstGeom>
          <a:solidFill>
            <a:srgbClr val="D8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27064" y="164592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27064" y="1645920"/>
            <a:ext cx="2606040" cy="82296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187451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7494A"/>
                </a:solidFill>
                <a:latin typeface="Aptos"/>
              </a:rPr>
              <a:t>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193852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C7C"/>
                </a:solidFill>
                <a:latin typeface="Aptos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28600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Open a suspicious 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2898648"/>
            <a:ext cx="2295144" cy="876300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3_suspicious_rin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09944" y="2926080"/>
            <a:ext cx="2240280" cy="8214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28232" y="4526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332"/>
                </a:solidFill>
                <a:latin typeface="Aptos"/>
              </a:rPr>
              <a:t>Clusters -&gt; click CL001 -&gt; Open details. 6 users, 4 merchants, 8 chargebacks.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60536" y="3520440"/>
            <a:ext cx="164592" cy="274320"/>
          </a:xfrm>
          <a:prstGeom prst="rightArrow">
            <a:avLst/>
          </a:prstGeom>
          <a:solidFill>
            <a:srgbClr val="D8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043416" y="1645920"/>
            <a:ext cx="26060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43416" y="1645920"/>
            <a:ext cx="2606040" cy="82296"/>
          </a:xfrm>
          <a:prstGeom prst="rect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44584" y="187451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BECC"/>
                </a:solidFill>
                <a:latin typeface="Aptos"/>
              </a:rPr>
              <a:t>1:30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193852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C7C"/>
                </a:solidFill>
                <a:latin typeface="Aptos"/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228600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92B"/>
                </a:solidFill>
                <a:latin typeface="Aptos"/>
              </a:rPr>
              <a:t>Ask the graph 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98864" y="2898648"/>
            <a:ext cx="2295144" cy="865438"/>
          </a:xfrm>
          <a:prstGeom prst="rect">
            <a:avLst/>
          </a:prstGeom>
          <a:solidFill>
            <a:srgbClr val="D8E4E7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05_graph_agent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26296" y="2926080"/>
            <a:ext cx="2240280" cy="81057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44584" y="4526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332"/>
                </a:solidFill>
                <a:latin typeface="Aptos"/>
              </a:rPr>
              <a:t>Terminal: py src/agent.py --ask "Find suspicious fraud rings in the payment graph."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Live: adityashukla2615.github.io/upi-risk-desk/outputs/upi_risk_desk.html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BECC"/>
                </a:solidFill>
                <a:latin typeface="Aptos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the desk delivers in one quarter of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B3044"/>
          </a:solidFill>
          <a:ln>
            <a:solidFill>
              <a:srgbClr val="1B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91440" cy="1874519"/>
          </a:xfrm>
          <a:prstGeom prst="rect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2996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D7494A"/>
                </a:solidFill>
                <a:latin typeface="Aptos"/>
              </a:rPr>
              <a:t>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16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DUPLICATE PAYMENTS REMOVED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DDFE6"/>
                </a:solidFill>
                <a:latin typeface="Aptos"/>
              </a:rPr>
              <a:t>Removed before any ratio, so nothing is double-counted.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B3044"/>
          </a:solidFill>
          <a:ln>
            <a:solidFill>
              <a:srgbClr val="1B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91440" cy="1874519"/>
          </a:xfrm>
          <a:prstGeom prst="rect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2996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38B30"/>
                </a:solidFill>
                <a:latin typeface="Aptos"/>
              </a:rPr>
              <a:t>INR 51.9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16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VOLUME INFLATION AVOIDED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546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DDFE6"/>
                </a:solidFill>
                <a:latin typeface="Aptos"/>
              </a:rPr>
              <a:t>Duplicates would have overstated value by INR 51.86 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B3044"/>
          </a:solidFill>
          <a:ln>
            <a:solidFill>
              <a:srgbClr val="1B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977639"/>
            <a:ext cx="91440" cy="1874519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178807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09488"/>
                </a:solidFill>
                <a:latin typeface="Aptos"/>
              </a:rPr>
              <a:t>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651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HIGH-RISK MERCHANTS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035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DDFE6"/>
                </a:solidFill>
                <a:latin typeface="Aptos"/>
              </a:rPr>
              <a:t>Ranked worklist with the reasons each one was flagged.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77639"/>
            <a:ext cx="5120640" cy="1874519"/>
          </a:xfrm>
          <a:prstGeom prst="roundRect">
            <a:avLst>
              <a:gd name="adj" fmla="val 8000"/>
            </a:avLst>
          </a:prstGeom>
          <a:solidFill>
            <a:srgbClr val="1B3044"/>
          </a:solidFill>
          <a:ln>
            <a:solidFill>
              <a:srgbClr val="1B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977639"/>
            <a:ext cx="91440" cy="1874519"/>
          </a:xfrm>
          <a:prstGeom prst="rect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178807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33BECC"/>
                </a:solidFill>
                <a:latin typeface="Aptos"/>
              </a:rPr>
              <a:t>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6519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SUSPICIOUS CLUSTERS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3035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DDFE6"/>
                </a:solidFill>
                <a:latin typeface="Aptos"/>
              </a:rPr>
              <a:t>Connected dispute rings to investigate as networks, not one-offs.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CDDFE6"/>
                </a:solidFill>
                <a:latin typeface="Aptos"/>
              </a:rPr>
              <a:t>UPI RISK DESK  /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VALIDATION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We tested the tempting explanations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6420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C7C"/>
                </a:solidFill>
                <a:latin typeface="Aptos"/>
              </a:rPr>
              <a:t>A good risk desk should show what it ruled out, not only what it found.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789920" cy="502920"/>
          </a:xfrm>
          <a:prstGeom prst="rect">
            <a:avLst/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4086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92B"/>
                </a:solidFill>
                <a:latin typeface="Aptos"/>
              </a:rPr>
              <a:t>Missing UTR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40864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Failed 9.7% vs 9.8%; disputed 12.6% vs 12.2%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34086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C9D62"/>
                </a:solidFill>
                <a:latin typeface="Aptos"/>
              </a:rPr>
              <a:t>NO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39"/>
            <a:ext cx="10789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8094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92B"/>
                </a:solidFill>
                <a:latin typeface="Aptos"/>
              </a:rPr>
              <a:t>Peak-hour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80944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Failures stay around 8-11% across the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98094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C9D62"/>
                </a:solidFill>
                <a:latin typeface="Aptos"/>
              </a:rPr>
              <a:t>NO 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10789920" cy="502920"/>
          </a:xfrm>
          <a:prstGeom prst="rect">
            <a:avLst/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62102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92B"/>
                </a:solidFill>
                <a:latin typeface="Aptos"/>
              </a:rPr>
              <a:t>Volume spikes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621024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2 spike days; 0 follow-on disputes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62102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C9D62"/>
                </a:solidFill>
                <a:latin typeface="Aptos"/>
              </a:rPr>
              <a:t>NO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10789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26110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92B"/>
                </a:solidFill>
                <a:latin typeface="Aptos"/>
              </a:rPr>
              <a:t>Circular money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261104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16,393 payments checked; 0 cycles (money only flows user -&gt; merchant)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26110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2C9D62"/>
                </a:solidFill>
                <a:latin typeface="Aptos"/>
              </a:rPr>
              <a:t>NONE FOUND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79"/>
            <a:ext cx="10789920" cy="502920"/>
          </a:xfrm>
          <a:prstGeom prst="rect">
            <a:avLst/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901183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92B"/>
                </a:solidFill>
                <a:latin typeface="Aptos"/>
              </a:rPr>
              <a:t>Predictive backtest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901183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62332"/>
                </a:solidFill>
                <a:latin typeface="Aptos"/>
              </a:rPr>
              <a:t>Merchant AUC 0.47; user AUC 0.53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901183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38B30"/>
                </a:solidFill>
                <a:latin typeface="Aptos"/>
              </a:rPr>
              <a:t>WORKLIST, NOT FORECAST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32120"/>
            <a:ext cx="10789920" cy="50292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5071" y="5687568"/>
            <a:ext cx="104516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F38B30"/>
                </a:solidFill>
                <a:latin typeface="Aptos"/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669280"/>
            <a:ext cx="8823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332"/>
                </a:solidFill>
                <a:latin typeface="Aptos"/>
              </a:rPr>
              <a:t>Current scores prioritize investigation; future runs should add labels and monitor detection quality before automated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UPI Risk Desk project outputs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RECOMMENDED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From insight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960" y="1874519"/>
            <a:ext cx="475488" cy="475488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47088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Gate rejected KYC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4708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62332"/>
                </a:solidFill>
                <a:latin typeface="Aptos"/>
              </a:rPr>
              <a:t>Block or step-up UPI payments until identity status is resolved.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2395728"/>
            <a:ext cx="9326880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" y="2862072"/>
            <a:ext cx="475488" cy="475488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Prioritize late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3464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62332"/>
                </a:solidFill>
                <a:latin typeface="Aptos"/>
              </a:rPr>
              <a:t>Route &gt;7-day unauthorized complaints to an accelerated review queue.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54480" y="3383280"/>
            <a:ext cx="9326880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2960" y="3849624"/>
            <a:ext cx="475488" cy="475488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67911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2219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Investigate rings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82219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62332"/>
                </a:solidFill>
                <a:latin typeface="Aptos"/>
              </a:rPr>
              <a:t>Use shared user-merchant paths to review connected components, not isolated cases.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370832"/>
            <a:ext cx="9326880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2960" y="4837176"/>
            <a:ext cx="475488" cy="475488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55464"/>
            <a:ext cx="4754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9744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Protect 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809744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62332"/>
                </a:solidFill>
                <a:latin typeface="Aptos"/>
              </a:rPr>
              <a:t>Keep txn_id as the source of truth when dispute identifiers disagree.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54480" y="5358384"/>
            <a:ext cx="9326880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554480" y="5715000"/>
            <a:ext cx="9235440" cy="384048"/>
          </a:xfrm>
          <a:prstGeom prst="roundRect">
            <a:avLst>
              <a:gd name="adj" fmla="val 8000"/>
            </a:avLst>
          </a:prstGeom>
          <a:solidFill>
            <a:srgbClr val="0B192B"/>
          </a:solidFill>
          <a:ln>
            <a:solidFill>
              <a:srgbClr val="0B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83080" y="5797296"/>
            <a:ext cx="8778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Next milestone: move from explainable worklists to labelled, monitored detection.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UPI Risk Desk project outputs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9488"/>
                </a:solidFill>
                <a:latin typeface="Aptos"/>
              </a:rPr>
              <a:t>OWNERSHIP AND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92B"/>
                </a:solidFill>
                <a:latin typeface="Aptos"/>
              </a:rPr>
              <a:t>Team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922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C7C"/>
                </a:solidFill>
                <a:latin typeface="Aptos"/>
              </a:rPr>
              <a:t>UPI RISK DESK  / 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353312"/>
            <a:ext cx="11000232" cy="0"/>
          </a:xfrm>
          <a:prstGeom prst="line">
            <a:avLst/>
          </a:prstGeom>
          <a:ln w="12700">
            <a:solidFill>
              <a:srgbClr val="D8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66420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C7C"/>
                </a:solidFill>
                <a:latin typeface="Aptos"/>
              </a:rPr>
              <a:t>Project team and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F38B30"/>
          </a:solidFill>
          <a:ln>
            <a:solidFill>
              <a:srgbClr val="F3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688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Aditya Shukla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70632"/>
            <a:ext cx="2011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F38B30"/>
                </a:solidFill>
                <a:latin typeface="Aptos"/>
              </a:rPr>
              <a:t>TEAM LEADER</a:t>
            </a:r>
            <a:r>
              <a:rPr lang="en-IN" sz="1000" b="1" dirty="0">
                <a:solidFill>
                  <a:srgbClr val="F38B30"/>
                </a:solidFill>
                <a:latin typeface="Aptos"/>
              </a:rPr>
              <a:t> - 12408482</a:t>
            </a:r>
            <a:endParaRPr sz="1000" b="1" dirty="0">
              <a:solidFill>
                <a:srgbClr val="F38B3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302666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C7C"/>
                </a:solidFill>
                <a:latin typeface="Aptos"/>
              </a:rPr>
              <a:t>Risk analytics, metrics and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2402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63440" y="2514600"/>
            <a:ext cx="502920" cy="50292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53288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4688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Ishaan Sandhwar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7063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488"/>
                </a:solidFill>
                <a:latin typeface="Aptos"/>
              </a:rPr>
              <a:t>Reg. no. 12416912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02666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C7C"/>
                </a:solidFill>
                <a:latin typeface="Aptos"/>
              </a:rPr>
              <a:t>Data engineering and model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2402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0" y="2514600"/>
            <a:ext cx="502920" cy="502920"/>
          </a:xfrm>
          <a:prstGeom prst="ellipse">
            <a:avLst/>
          </a:prstGeom>
          <a:solidFill>
            <a:srgbClr val="D7494A"/>
          </a:solidFill>
          <a:ln>
            <a:solidFill>
              <a:srgbClr val="D7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532888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688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Piyush Priyanshu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7063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7494A"/>
                </a:solidFill>
                <a:latin typeface="Aptos"/>
              </a:rPr>
              <a:t>Reg. no. 12412878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02666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C7C"/>
                </a:solidFill>
                <a:latin typeface="Aptos"/>
              </a:rPr>
              <a:t>Graph intelligence and clusters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404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33BECC"/>
          </a:solidFill>
          <a:ln>
            <a:solidFill>
              <a:srgbClr val="33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133087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0690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Deepak Kumar Behera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37083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BECC"/>
                </a:solidFill>
                <a:latin typeface="Aptos"/>
              </a:rPr>
              <a:t>Reg. no. 12412575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62686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C7C"/>
                </a:solidFill>
                <a:latin typeface="Aptos"/>
              </a:rPr>
              <a:t>Dashboard and BI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8404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2C9D62"/>
          </a:solidFill>
          <a:ln>
            <a:solidFill>
              <a:srgbClr val="2C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4133087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0690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92B"/>
                </a:solidFill>
                <a:latin typeface="Aptos"/>
              </a:rPr>
              <a:t>Harsh Sharm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37083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9D62"/>
                </a:solidFill>
                <a:latin typeface="Aptos"/>
              </a:rPr>
              <a:t>Reg. no. 12412500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62686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C7C"/>
                </a:solidFill>
                <a:latin typeface="Aptos"/>
              </a:rPr>
              <a:t>Agent, validation and storytelling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486400"/>
            <a:ext cx="10744200" cy="50292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>
            <a:solidFill>
              <a:srgbClr val="F1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623560"/>
            <a:ext cx="10104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92B"/>
                </a:solidFill>
                <a:latin typeface="Aptos"/>
              </a:rPr>
              <a:t>Shared outcome: a decision-ready risk desk, not just a collection of charts.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38251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Source: UPI Risk Desk project outputs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BECC"/>
                </a:solidFill>
                <a:latin typeface="Aptos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583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Clean the identity.
Connect the network.
Act on the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DDFE6"/>
                </a:solidFill>
                <a:latin typeface="Aptos"/>
              </a:rPr>
              <a:t>UPI Risk Desk turns messy payment data into a practical investigation queue for risk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00584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1417320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B192B"/>
                </a:solidFill>
                <a:latin typeface="Aptos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920240"/>
            <a:ext cx="31546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Dashboard
+
Graph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840480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92B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041648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adityashukla2615.github.io/upi-risk-desk/outputs/upi_risk_desk.html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617720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B192B"/>
                </a:solidFill>
                <a:latin typeface="Apto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81888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github.com/adityashukla2615/upi-risk-desk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3BECC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1713</Words>
  <Application>Microsoft Office PowerPoint</Application>
  <PresentationFormat>Widescreen</PresentationFormat>
  <Paragraphs>289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Ishaan Sandhwar</cp:lastModifiedBy>
  <cp:revision>3</cp:revision>
  <dcterms:created xsi:type="dcterms:W3CDTF">2013-01-27T09:14:16Z</dcterms:created>
  <dcterms:modified xsi:type="dcterms:W3CDTF">2026-09-17T05:55:45Z</dcterms:modified>
  <cp:category/>
</cp:coreProperties>
</file>